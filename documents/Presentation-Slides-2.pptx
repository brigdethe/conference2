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9" r:id="rId5"/>
    <p:sldId id="378" r:id="rId6"/>
    <p:sldId id="408" r:id="rId7"/>
    <p:sldId id="407" r:id="rId8"/>
    <p:sldId id="412" r:id="rId9"/>
    <p:sldId id="414" r:id="rId10"/>
    <p:sldId id="411" r:id="rId11"/>
    <p:sldId id="413" r:id="rId12"/>
    <p:sldId id="409" r:id="rId13"/>
    <p:sldId id="257" r:id="rId14"/>
    <p:sldId id="260" r:id="rId15"/>
    <p:sldId id="262" r:id="rId16"/>
    <p:sldId id="379" r:id="rId17"/>
    <p:sldId id="380" r:id="rId18"/>
    <p:sldId id="386" r:id="rId19"/>
    <p:sldId id="381" r:id="rId20"/>
    <p:sldId id="383" r:id="rId21"/>
    <p:sldId id="388" r:id="rId22"/>
    <p:sldId id="384" r:id="rId23"/>
    <p:sldId id="382" r:id="rId24"/>
    <p:sldId id="398" r:id="rId25"/>
    <p:sldId id="410" r:id="rId26"/>
    <p:sldId id="393" r:id="rId27"/>
    <p:sldId id="404" r:id="rId28"/>
    <p:sldId id="394" r:id="rId29"/>
    <p:sldId id="395" r:id="rId30"/>
    <p:sldId id="396" r:id="rId31"/>
    <p:sldId id="397" r:id="rId32"/>
    <p:sldId id="266" r:id="rId33"/>
    <p:sldId id="363" r:id="rId34"/>
    <p:sldId id="365" r:id="rId35"/>
    <p:sldId id="399" r:id="rId36"/>
    <p:sldId id="403" r:id="rId37"/>
    <p:sldId id="400" r:id="rId38"/>
    <p:sldId id="368" r:id="rId39"/>
    <p:sldId id="370" r:id="rId40"/>
    <p:sldId id="371" r:id="rId41"/>
    <p:sldId id="372" r:id="rId42"/>
    <p:sldId id="373" r:id="rId43"/>
    <p:sldId id="374" r:id="rId44"/>
    <p:sldId id="376" r:id="rId45"/>
    <p:sldId id="377" r:id="rId46"/>
    <p:sldId id="375" r:id="rId47"/>
    <p:sldId id="401" r:id="rId48"/>
    <p:sldId id="402" r:id="rId49"/>
    <p:sldId id="405" r:id="rId50"/>
    <p:sldId id="406"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862" autoAdjust="0"/>
    <p:restoredTop sz="94721"/>
  </p:normalViewPr>
  <p:slideViewPr>
    <p:cSldViewPr snapToGrid="0">
      <p:cViewPr varScale="1">
        <p:scale>
          <a:sx n="81" d="100"/>
          <a:sy n="81" d="100"/>
        </p:scale>
        <p:origin x="25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978B9E-D0F1-47AF-9ACA-B7D3ECEC4A60}" type="doc">
      <dgm:prSet loTypeId="urn:microsoft.com/office/officeart/2005/8/layout/cycle7" loCatId="cycle" qsTypeId="urn:microsoft.com/office/officeart/2005/8/quickstyle/simple1" qsCatId="simple" csTypeId="urn:microsoft.com/office/officeart/2005/8/colors/accent1_2" csCatId="accent1" phldr="1"/>
      <dgm:spPr/>
      <dgm:t>
        <a:bodyPr/>
        <a:lstStyle/>
        <a:p>
          <a:endParaRPr lang="en-GB"/>
        </a:p>
      </dgm:t>
    </dgm:pt>
    <dgm:pt modelId="{B1579781-FDFF-47F1-B200-34C9F6A7F76B}">
      <dgm:prSet phldrT="[Text]" phldr="0"/>
      <dgm:spPr>
        <a:solidFill>
          <a:srgbClr val="FF0000"/>
        </a:solidFill>
      </dgm:spPr>
      <dgm:t>
        <a:bodyPr/>
        <a:lstStyle/>
        <a:p>
          <a:r>
            <a:rPr lang="en-GB" dirty="0"/>
            <a:t>Supplier B</a:t>
          </a:r>
        </a:p>
      </dgm:t>
    </dgm:pt>
    <dgm:pt modelId="{0606FDD7-AF83-46BD-8DD1-91493204DA12}" type="parTrans" cxnId="{0555106A-5A2F-4C0C-9571-9688480042B8}">
      <dgm:prSet/>
      <dgm:spPr/>
      <dgm:t>
        <a:bodyPr/>
        <a:lstStyle/>
        <a:p>
          <a:endParaRPr lang="en-GB"/>
        </a:p>
      </dgm:t>
    </dgm:pt>
    <dgm:pt modelId="{5B825782-6211-451A-B0DD-CD63974F2567}" type="sibTrans" cxnId="{0555106A-5A2F-4C0C-9571-9688480042B8}">
      <dgm:prSet/>
      <dgm:spPr/>
      <dgm:t>
        <a:bodyPr/>
        <a:lstStyle/>
        <a:p>
          <a:endParaRPr lang="en-GB"/>
        </a:p>
      </dgm:t>
    </dgm:pt>
    <dgm:pt modelId="{999D0B72-6D29-45E1-BB25-040F2609F6D1}">
      <dgm:prSet phldrT="[Text]" phldr="0"/>
      <dgm:spPr/>
      <dgm:t>
        <a:bodyPr/>
        <a:lstStyle/>
        <a:p>
          <a:r>
            <a:rPr lang="en-GB" dirty="0"/>
            <a:t>Retailer C</a:t>
          </a:r>
        </a:p>
      </dgm:t>
    </dgm:pt>
    <dgm:pt modelId="{65DC0135-1E04-4FD5-8C50-DC7C5715E7F2}" type="parTrans" cxnId="{08B6A4A1-401C-4A90-A11A-23CA47CD4E0C}">
      <dgm:prSet/>
      <dgm:spPr/>
      <dgm:t>
        <a:bodyPr/>
        <a:lstStyle/>
        <a:p>
          <a:endParaRPr lang="en-GB"/>
        </a:p>
      </dgm:t>
    </dgm:pt>
    <dgm:pt modelId="{B82156B7-F25F-4B35-8896-D4BBB5DA3709}" type="sibTrans" cxnId="{08B6A4A1-401C-4A90-A11A-23CA47CD4E0C}">
      <dgm:prSet/>
      <dgm:spPr/>
      <dgm:t>
        <a:bodyPr/>
        <a:lstStyle/>
        <a:p>
          <a:endParaRPr lang="en-GB"/>
        </a:p>
      </dgm:t>
    </dgm:pt>
    <dgm:pt modelId="{BEAC9EEA-9504-40CF-B948-9821E939C822}">
      <dgm:prSet phldrT="[Text]" phldr="0"/>
      <dgm:spPr/>
      <dgm:t>
        <a:bodyPr/>
        <a:lstStyle/>
        <a:p>
          <a:r>
            <a:rPr lang="en-GB" dirty="0"/>
            <a:t>Retailer A</a:t>
          </a:r>
        </a:p>
      </dgm:t>
    </dgm:pt>
    <dgm:pt modelId="{0F2531FA-9CDE-4128-A7AE-D29F5A84CAC5}" type="parTrans" cxnId="{0C2DE914-6F57-4D29-9732-292769909BE8}">
      <dgm:prSet/>
      <dgm:spPr/>
      <dgm:t>
        <a:bodyPr/>
        <a:lstStyle/>
        <a:p>
          <a:endParaRPr lang="en-GB"/>
        </a:p>
      </dgm:t>
    </dgm:pt>
    <dgm:pt modelId="{3B72E008-8F0C-4C46-9395-9C11650AE798}" type="sibTrans" cxnId="{0C2DE914-6F57-4D29-9732-292769909BE8}">
      <dgm:prSet/>
      <dgm:spPr/>
      <dgm:t>
        <a:bodyPr/>
        <a:lstStyle/>
        <a:p>
          <a:endParaRPr lang="en-GB"/>
        </a:p>
      </dgm:t>
    </dgm:pt>
    <dgm:pt modelId="{D60DAA01-560B-4EB8-AA08-0231EAF31A61}" type="pres">
      <dgm:prSet presAssocID="{1A978B9E-D0F1-47AF-9ACA-B7D3ECEC4A60}" presName="Name0" presStyleCnt="0">
        <dgm:presLayoutVars>
          <dgm:dir/>
          <dgm:resizeHandles val="exact"/>
        </dgm:presLayoutVars>
      </dgm:prSet>
      <dgm:spPr/>
      <dgm:t>
        <a:bodyPr/>
        <a:lstStyle/>
        <a:p>
          <a:endParaRPr lang="en-US"/>
        </a:p>
      </dgm:t>
    </dgm:pt>
    <dgm:pt modelId="{EC4896A1-09E8-479F-8DCB-B56F6F9506EA}" type="pres">
      <dgm:prSet presAssocID="{B1579781-FDFF-47F1-B200-34C9F6A7F76B}" presName="node" presStyleLbl="node1" presStyleIdx="0" presStyleCnt="3" custRadScaleRad="81047" custRadScaleInc="623">
        <dgm:presLayoutVars>
          <dgm:bulletEnabled val="1"/>
        </dgm:presLayoutVars>
      </dgm:prSet>
      <dgm:spPr/>
      <dgm:t>
        <a:bodyPr/>
        <a:lstStyle/>
        <a:p>
          <a:endParaRPr lang="en-US"/>
        </a:p>
      </dgm:t>
    </dgm:pt>
    <dgm:pt modelId="{338C7BA6-7818-4E1C-838E-F2B574247B12}" type="pres">
      <dgm:prSet presAssocID="{5B825782-6211-451A-B0DD-CD63974F2567}" presName="sibTrans" presStyleLbl="sibTrans2D1" presStyleIdx="0" presStyleCnt="3"/>
      <dgm:spPr>
        <a:prstGeom prst="rightArrow">
          <a:avLst/>
        </a:prstGeom>
      </dgm:spPr>
      <dgm:t>
        <a:bodyPr/>
        <a:lstStyle/>
        <a:p>
          <a:endParaRPr lang="en-US"/>
        </a:p>
      </dgm:t>
    </dgm:pt>
    <dgm:pt modelId="{D7D60FD4-9337-45B2-BFBD-80215CDBF31E}" type="pres">
      <dgm:prSet presAssocID="{5B825782-6211-451A-B0DD-CD63974F2567}" presName="connectorText" presStyleLbl="sibTrans2D1" presStyleIdx="0" presStyleCnt="3"/>
      <dgm:spPr/>
      <dgm:t>
        <a:bodyPr/>
        <a:lstStyle/>
        <a:p>
          <a:endParaRPr lang="en-US"/>
        </a:p>
      </dgm:t>
    </dgm:pt>
    <dgm:pt modelId="{C72BEB94-D71D-4F16-81AD-FE9BFF2521DD}" type="pres">
      <dgm:prSet presAssocID="{999D0B72-6D29-45E1-BB25-040F2609F6D1}" presName="node" presStyleLbl="node1" presStyleIdx="1" presStyleCnt="3" custRadScaleRad="96051" custRadScaleInc="-7290">
        <dgm:presLayoutVars>
          <dgm:bulletEnabled val="1"/>
        </dgm:presLayoutVars>
      </dgm:prSet>
      <dgm:spPr/>
      <dgm:t>
        <a:bodyPr/>
        <a:lstStyle/>
        <a:p>
          <a:endParaRPr lang="en-US"/>
        </a:p>
      </dgm:t>
    </dgm:pt>
    <dgm:pt modelId="{1237976B-0EB3-4FB2-8A77-2BC53C1D1FD1}" type="pres">
      <dgm:prSet presAssocID="{B82156B7-F25F-4B35-8896-D4BBB5DA3709}" presName="sibTrans" presStyleLbl="sibTrans2D1" presStyleIdx="1" presStyleCnt="3"/>
      <dgm:spPr>
        <a:prstGeom prst="leftRightArrow">
          <a:avLst/>
        </a:prstGeom>
      </dgm:spPr>
      <dgm:t>
        <a:bodyPr/>
        <a:lstStyle/>
        <a:p>
          <a:endParaRPr lang="en-US"/>
        </a:p>
      </dgm:t>
    </dgm:pt>
    <dgm:pt modelId="{0678A489-A235-414F-B5FD-AC0876B59214}" type="pres">
      <dgm:prSet presAssocID="{B82156B7-F25F-4B35-8896-D4BBB5DA3709}" presName="connectorText" presStyleLbl="sibTrans2D1" presStyleIdx="1" presStyleCnt="3"/>
      <dgm:spPr/>
      <dgm:t>
        <a:bodyPr/>
        <a:lstStyle/>
        <a:p>
          <a:endParaRPr lang="en-US"/>
        </a:p>
      </dgm:t>
    </dgm:pt>
    <dgm:pt modelId="{B4112B4A-93A6-47E0-8DFB-2FE92A2DC359}" type="pres">
      <dgm:prSet presAssocID="{BEAC9EEA-9504-40CF-B948-9821E939C822}" presName="node" presStyleLbl="node1" presStyleIdx="2" presStyleCnt="3" custRadScaleRad="96301" custRadScaleInc="7989">
        <dgm:presLayoutVars>
          <dgm:bulletEnabled val="1"/>
        </dgm:presLayoutVars>
      </dgm:prSet>
      <dgm:spPr/>
      <dgm:t>
        <a:bodyPr/>
        <a:lstStyle/>
        <a:p>
          <a:endParaRPr lang="en-US"/>
        </a:p>
      </dgm:t>
    </dgm:pt>
    <dgm:pt modelId="{D7298C66-41CB-45FB-BD78-3D2E2E07A4A7}" type="pres">
      <dgm:prSet presAssocID="{3B72E008-8F0C-4C46-9395-9C11650AE798}" presName="sibTrans" presStyleLbl="sibTrans2D1" presStyleIdx="2" presStyleCnt="3"/>
      <dgm:spPr>
        <a:prstGeom prst="rightArrow">
          <a:avLst/>
        </a:prstGeom>
      </dgm:spPr>
      <dgm:t>
        <a:bodyPr/>
        <a:lstStyle/>
        <a:p>
          <a:endParaRPr lang="en-US"/>
        </a:p>
      </dgm:t>
    </dgm:pt>
    <dgm:pt modelId="{FD16D37A-5E4F-4DD2-B541-B8E632EE187D}" type="pres">
      <dgm:prSet presAssocID="{3B72E008-8F0C-4C46-9395-9C11650AE798}" presName="connectorText" presStyleLbl="sibTrans2D1" presStyleIdx="2" presStyleCnt="3"/>
      <dgm:spPr/>
      <dgm:t>
        <a:bodyPr/>
        <a:lstStyle/>
        <a:p>
          <a:endParaRPr lang="en-US"/>
        </a:p>
      </dgm:t>
    </dgm:pt>
  </dgm:ptLst>
  <dgm:cxnLst>
    <dgm:cxn modelId="{4D34B1A1-04F9-461F-BC07-D5CA323E40FE}" type="presOf" srcId="{B82156B7-F25F-4B35-8896-D4BBB5DA3709}" destId="{0678A489-A235-414F-B5FD-AC0876B59214}" srcOrd="1" destOrd="0" presId="urn:microsoft.com/office/officeart/2005/8/layout/cycle7"/>
    <dgm:cxn modelId="{AEBCB73F-F7B8-4DFE-A58B-4967A5DB3860}" type="presOf" srcId="{3B72E008-8F0C-4C46-9395-9C11650AE798}" destId="{FD16D37A-5E4F-4DD2-B541-B8E632EE187D}" srcOrd="1" destOrd="0" presId="urn:microsoft.com/office/officeart/2005/8/layout/cycle7"/>
    <dgm:cxn modelId="{60E1AD8A-82CF-46BB-BA46-FC7B5D41BE73}" type="presOf" srcId="{B1579781-FDFF-47F1-B200-34C9F6A7F76B}" destId="{EC4896A1-09E8-479F-8DCB-B56F6F9506EA}" srcOrd="0" destOrd="0" presId="urn:microsoft.com/office/officeart/2005/8/layout/cycle7"/>
    <dgm:cxn modelId="{4784E220-A7CB-44F4-BBE3-96105A2CB265}" type="presOf" srcId="{999D0B72-6D29-45E1-BB25-040F2609F6D1}" destId="{C72BEB94-D71D-4F16-81AD-FE9BFF2521DD}" srcOrd="0" destOrd="0" presId="urn:microsoft.com/office/officeart/2005/8/layout/cycle7"/>
    <dgm:cxn modelId="{0E443789-D02A-47BF-A314-169E1E3C1C40}" type="presOf" srcId="{3B72E008-8F0C-4C46-9395-9C11650AE798}" destId="{D7298C66-41CB-45FB-BD78-3D2E2E07A4A7}" srcOrd="0" destOrd="0" presId="urn:microsoft.com/office/officeart/2005/8/layout/cycle7"/>
    <dgm:cxn modelId="{DFC3CA5F-B1AE-4018-8C2D-D4B9375FB262}" type="presOf" srcId="{B82156B7-F25F-4B35-8896-D4BBB5DA3709}" destId="{1237976B-0EB3-4FB2-8A77-2BC53C1D1FD1}" srcOrd="0" destOrd="0" presId="urn:microsoft.com/office/officeart/2005/8/layout/cycle7"/>
    <dgm:cxn modelId="{08B6A4A1-401C-4A90-A11A-23CA47CD4E0C}" srcId="{1A978B9E-D0F1-47AF-9ACA-B7D3ECEC4A60}" destId="{999D0B72-6D29-45E1-BB25-040F2609F6D1}" srcOrd="1" destOrd="0" parTransId="{65DC0135-1E04-4FD5-8C50-DC7C5715E7F2}" sibTransId="{B82156B7-F25F-4B35-8896-D4BBB5DA3709}"/>
    <dgm:cxn modelId="{0C2DE914-6F57-4D29-9732-292769909BE8}" srcId="{1A978B9E-D0F1-47AF-9ACA-B7D3ECEC4A60}" destId="{BEAC9EEA-9504-40CF-B948-9821E939C822}" srcOrd="2" destOrd="0" parTransId="{0F2531FA-9CDE-4128-A7AE-D29F5A84CAC5}" sibTransId="{3B72E008-8F0C-4C46-9395-9C11650AE798}"/>
    <dgm:cxn modelId="{E6B56360-8660-44C0-9E2B-799A4B415839}" type="presOf" srcId="{BEAC9EEA-9504-40CF-B948-9821E939C822}" destId="{B4112B4A-93A6-47E0-8DFB-2FE92A2DC359}" srcOrd="0" destOrd="0" presId="urn:microsoft.com/office/officeart/2005/8/layout/cycle7"/>
    <dgm:cxn modelId="{572C62BB-9D9C-475D-BB20-80ED22E8C6A6}" type="presOf" srcId="{1A978B9E-D0F1-47AF-9ACA-B7D3ECEC4A60}" destId="{D60DAA01-560B-4EB8-AA08-0231EAF31A61}" srcOrd="0" destOrd="0" presId="urn:microsoft.com/office/officeart/2005/8/layout/cycle7"/>
    <dgm:cxn modelId="{0555106A-5A2F-4C0C-9571-9688480042B8}" srcId="{1A978B9E-D0F1-47AF-9ACA-B7D3ECEC4A60}" destId="{B1579781-FDFF-47F1-B200-34C9F6A7F76B}" srcOrd="0" destOrd="0" parTransId="{0606FDD7-AF83-46BD-8DD1-91493204DA12}" sibTransId="{5B825782-6211-451A-B0DD-CD63974F2567}"/>
    <dgm:cxn modelId="{5E31F685-1042-4396-896D-01118759FCA0}" type="presOf" srcId="{5B825782-6211-451A-B0DD-CD63974F2567}" destId="{338C7BA6-7818-4E1C-838E-F2B574247B12}" srcOrd="0" destOrd="0" presId="urn:microsoft.com/office/officeart/2005/8/layout/cycle7"/>
    <dgm:cxn modelId="{8E069445-E691-4A0C-9B3E-8AB1468F1807}" type="presOf" srcId="{5B825782-6211-451A-B0DD-CD63974F2567}" destId="{D7D60FD4-9337-45B2-BFBD-80215CDBF31E}" srcOrd="1" destOrd="0" presId="urn:microsoft.com/office/officeart/2005/8/layout/cycle7"/>
    <dgm:cxn modelId="{4E609679-F2F1-4004-847D-9FED368B2FD8}" type="presParOf" srcId="{D60DAA01-560B-4EB8-AA08-0231EAF31A61}" destId="{EC4896A1-09E8-479F-8DCB-B56F6F9506EA}" srcOrd="0" destOrd="0" presId="urn:microsoft.com/office/officeart/2005/8/layout/cycle7"/>
    <dgm:cxn modelId="{37757165-EEF5-4C45-AEF1-3214DA7F1B80}" type="presParOf" srcId="{D60DAA01-560B-4EB8-AA08-0231EAF31A61}" destId="{338C7BA6-7818-4E1C-838E-F2B574247B12}" srcOrd="1" destOrd="0" presId="urn:microsoft.com/office/officeart/2005/8/layout/cycle7"/>
    <dgm:cxn modelId="{E640B66D-00F8-4668-AFD6-0D982DCF485D}" type="presParOf" srcId="{338C7BA6-7818-4E1C-838E-F2B574247B12}" destId="{D7D60FD4-9337-45B2-BFBD-80215CDBF31E}" srcOrd="0" destOrd="0" presId="urn:microsoft.com/office/officeart/2005/8/layout/cycle7"/>
    <dgm:cxn modelId="{E29A9039-246A-4F7A-8C2B-F4F816FF2523}" type="presParOf" srcId="{D60DAA01-560B-4EB8-AA08-0231EAF31A61}" destId="{C72BEB94-D71D-4F16-81AD-FE9BFF2521DD}" srcOrd="2" destOrd="0" presId="urn:microsoft.com/office/officeart/2005/8/layout/cycle7"/>
    <dgm:cxn modelId="{BB3443AE-D836-449D-8001-FA5D1FB1F91F}" type="presParOf" srcId="{D60DAA01-560B-4EB8-AA08-0231EAF31A61}" destId="{1237976B-0EB3-4FB2-8A77-2BC53C1D1FD1}" srcOrd="3" destOrd="0" presId="urn:microsoft.com/office/officeart/2005/8/layout/cycle7"/>
    <dgm:cxn modelId="{69310E2D-E9BD-490B-9323-66C455866EE2}" type="presParOf" srcId="{1237976B-0EB3-4FB2-8A77-2BC53C1D1FD1}" destId="{0678A489-A235-414F-B5FD-AC0876B59214}" srcOrd="0" destOrd="0" presId="urn:microsoft.com/office/officeart/2005/8/layout/cycle7"/>
    <dgm:cxn modelId="{5E8E014F-AE48-4C9B-B432-E1B884863580}" type="presParOf" srcId="{D60DAA01-560B-4EB8-AA08-0231EAF31A61}" destId="{B4112B4A-93A6-47E0-8DFB-2FE92A2DC359}" srcOrd="4" destOrd="0" presId="urn:microsoft.com/office/officeart/2005/8/layout/cycle7"/>
    <dgm:cxn modelId="{6F6B1892-D35E-4AD9-9B44-57B2A043B4F6}" type="presParOf" srcId="{D60DAA01-560B-4EB8-AA08-0231EAF31A61}" destId="{D7298C66-41CB-45FB-BD78-3D2E2E07A4A7}" srcOrd="5" destOrd="0" presId="urn:microsoft.com/office/officeart/2005/8/layout/cycle7"/>
    <dgm:cxn modelId="{B1DD5313-FE25-4308-BFE8-A01F0DA625FA}" type="presParOf" srcId="{D7298C66-41CB-45FB-BD78-3D2E2E07A4A7}" destId="{FD16D37A-5E4F-4DD2-B541-B8E632EE187D}" srcOrd="0" destOrd="0" presId="urn:microsoft.com/office/officeart/2005/8/layout/cycle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EC44F72-AB63-9DF9-B229-101726DF94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xmlns="" id="{09ED241F-239F-0153-20D9-5F0ECAB712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xmlns="" id="{EE9D816F-1995-05BA-D627-97FF3D62241B}"/>
              </a:ext>
            </a:extLst>
          </p:cNvPr>
          <p:cNvSpPr>
            <a:spLocks noGrp="1"/>
          </p:cNvSpPr>
          <p:nvPr>
            <p:ph type="dt" sz="half" idx="10"/>
          </p:nvPr>
        </p:nvSpPr>
        <p:spPr/>
        <p:txBody>
          <a:bodyPr/>
          <a:lstStyle/>
          <a:p>
            <a:fld id="{3BA9E546-27B2-4ADF-B6D2-30B91844C774}" type="datetimeFigureOut">
              <a:rPr lang="en-GB" smtClean="0"/>
              <a:t>27/03/2026</a:t>
            </a:fld>
            <a:endParaRPr lang="en-GB"/>
          </a:p>
        </p:txBody>
      </p:sp>
      <p:sp>
        <p:nvSpPr>
          <p:cNvPr id="5" name="Footer Placeholder 4">
            <a:extLst>
              <a:ext uri="{FF2B5EF4-FFF2-40B4-BE49-F238E27FC236}">
                <a16:creationId xmlns:a16="http://schemas.microsoft.com/office/drawing/2014/main" xmlns="" id="{E51F49B4-B78A-792C-05E2-690C0DF51CF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DAF1B16C-C611-26EB-301F-57011968AC76}"/>
              </a:ext>
            </a:extLst>
          </p:cNvPr>
          <p:cNvSpPr>
            <a:spLocks noGrp="1"/>
          </p:cNvSpPr>
          <p:nvPr>
            <p:ph type="sldNum" sz="quarter" idx="12"/>
          </p:nvPr>
        </p:nvSpPr>
        <p:spPr/>
        <p:txBody>
          <a:bodyPr/>
          <a:lstStyle/>
          <a:p>
            <a:fld id="{DFD12C00-D7C5-46A7-8C77-E09279EE5061}" type="slidenum">
              <a:rPr lang="en-GB" smtClean="0"/>
              <a:t>‹#›</a:t>
            </a:fld>
            <a:endParaRPr lang="en-GB"/>
          </a:p>
        </p:txBody>
      </p:sp>
    </p:spTree>
    <p:extLst>
      <p:ext uri="{BB962C8B-B14F-4D97-AF65-F5344CB8AC3E}">
        <p14:creationId xmlns:p14="http://schemas.microsoft.com/office/powerpoint/2010/main" val="7072369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8C2DB87-F585-F355-CE52-67DCDE92770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xmlns="" id="{2B39F68F-13F4-1980-5212-961E28F7790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989E3610-9C5E-8BAC-D020-028822902322}"/>
              </a:ext>
            </a:extLst>
          </p:cNvPr>
          <p:cNvSpPr>
            <a:spLocks noGrp="1"/>
          </p:cNvSpPr>
          <p:nvPr>
            <p:ph type="dt" sz="half" idx="10"/>
          </p:nvPr>
        </p:nvSpPr>
        <p:spPr/>
        <p:txBody>
          <a:bodyPr/>
          <a:lstStyle/>
          <a:p>
            <a:fld id="{3BA9E546-27B2-4ADF-B6D2-30B91844C774}" type="datetimeFigureOut">
              <a:rPr lang="en-GB" smtClean="0"/>
              <a:t>27/03/2026</a:t>
            </a:fld>
            <a:endParaRPr lang="en-GB"/>
          </a:p>
        </p:txBody>
      </p:sp>
      <p:sp>
        <p:nvSpPr>
          <p:cNvPr id="5" name="Footer Placeholder 4">
            <a:extLst>
              <a:ext uri="{FF2B5EF4-FFF2-40B4-BE49-F238E27FC236}">
                <a16:creationId xmlns:a16="http://schemas.microsoft.com/office/drawing/2014/main" xmlns="" id="{D1E8D18F-2DF1-5481-C511-DA17E248356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8F692BE2-3DAC-813D-0C47-14AD668CE58A}"/>
              </a:ext>
            </a:extLst>
          </p:cNvPr>
          <p:cNvSpPr>
            <a:spLocks noGrp="1"/>
          </p:cNvSpPr>
          <p:nvPr>
            <p:ph type="sldNum" sz="quarter" idx="12"/>
          </p:nvPr>
        </p:nvSpPr>
        <p:spPr/>
        <p:txBody>
          <a:bodyPr/>
          <a:lstStyle/>
          <a:p>
            <a:fld id="{DFD12C00-D7C5-46A7-8C77-E09279EE5061}" type="slidenum">
              <a:rPr lang="en-GB" smtClean="0"/>
              <a:t>‹#›</a:t>
            </a:fld>
            <a:endParaRPr lang="en-GB"/>
          </a:p>
        </p:txBody>
      </p:sp>
    </p:spTree>
    <p:extLst>
      <p:ext uri="{BB962C8B-B14F-4D97-AF65-F5344CB8AC3E}">
        <p14:creationId xmlns:p14="http://schemas.microsoft.com/office/powerpoint/2010/main" val="25606472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4B6568-71B6-1743-259E-2543F23DF0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xmlns="" id="{3B09FC50-2B40-C6D9-43C9-0E9735C0AE1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40C73A1F-CD13-5594-73B5-0E365E3F9EA2}"/>
              </a:ext>
            </a:extLst>
          </p:cNvPr>
          <p:cNvSpPr>
            <a:spLocks noGrp="1"/>
          </p:cNvSpPr>
          <p:nvPr>
            <p:ph type="dt" sz="half" idx="10"/>
          </p:nvPr>
        </p:nvSpPr>
        <p:spPr/>
        <p:txBody>
          <a:bodyPr/>
          <a:lstStyle/>
          <a:p>
            <a:fld id="{3BA9E546-27B2-4ADF-B6D2-30B91844C774}" type="datetimeFigureOut">
              <a:rPr lang="en-GB" smtClean="0"/>
              <a:t>27/03/2026</a:t>
            </a:fld>
            <a:endParaRPr lang="en-GB"/>
          </a:p>
        </p:txBody>
      </p:sp>
      <p:sp>
        <p:nvSpPr>
          <p:cNvPr id="5" name="Footer Placeholder 4">
            <a:extLst>
              <a:ext uri="{FF2B5EF4-FFF2-40B4-BE49-F238E27FC236}">
                <a16:creationId xmlns:a16="http://schemas.microsoft.com/office/drawing/2014/main" xmlns="" id="{26AB8FA9-6B5B-866D-A360-10FE4E08302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8C146341-5882-BC43-B69E-46A0AFD7A9CC}"/>
              </a:ext>
            </a:extLst>
          </p:cNvPr>
          <p:cNvSpPr>
            <a:spLocks noGrp="1"/>
          </p:cNvSpPr>
          <p:nvPr>
            <p:ph type="sldNum" sz="quarter" idx="12"/>
          </p:nvPr>
        </p:nvSpPr>
        <p:spPr/>
        <p:txBody>
          <a:bodyPr/>
          <a:lstStyle/>
          <a:p>
            <a:fld id="{DFD12C00-D7C5-46A7-8C77-E09279EE5061}" type="slidenum">
              <a:rPr lang="en-GB" smtClean="0"/>
              <a:t>‹#›</a:t>
            </a:fld>
            <a:endParaRPr lang="en-GB"/>
          </a:p>
        </p:txBody>
      </p:sp>
    </p:spTree>
    <p:extLst>
      <p:ext uri="{BB962C8B-B14F-4D97-AF65-F5344CB8AC3E}">
        <p14:creationId xmlns:p14="http://schemas.microsoft.com/office/powerpoint/2010/main" val="113216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DE96ADD-F124-3A64-2C43-67D85305ED0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xmlns="" id="{B69BCC35-1D79-0130-141D-603D7A76376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xmlns="" id="{E3FD5A3E-5DF5-FAA4-A2C4-A67D008A9E0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xmlns="" id="{2992E2DC-F605-27B8-B19D-EA2023377976}"/>
              </a:ext>
            </a:extLst>
          </p:cNvPr>
          <p:cNvSpPr>
            <a:spLocks noGrp="1"/>
          </p:cNvSpPr>
          <p:nvPr>
            <p:ph type="dt" sz="half" idx="10"/>
          </p:nvPr>
        </p:nvSpPr>
        <p:spPr/>
        <p:txBody>
          <a:bodyPr/>
          <a:lstStyle/>
          <a:p>
            <a:fld id="{3BA9E546-27B2-4ADF-B6D2-30B91844C774}" type="datetimeFigureOut">
              <a:rPr lang="en-GB" smtClean="0"/>
              <a:t>27/03/2026</a:t>
            </a:fld>
            <a:endParaRPr lang="en-GB"/>
          </a:p>
        </p:txBody>
      </p:sp>
      <p:sp>
        <p:nvSpPr>
          <p:cNvPr id="6" name="Footer Placeholder 5">
            <a:extLst>
              <a:ext uri="{FF2B5EF4-FFF2-40B4-BE49-F238E27FC236}">
                <a16:creationId xmlns:a16="http://schemas.microsoft.com/office/drawing/2014/main" xmlns="" id="{15352FF7-5A35-DF29-55B7-A1B7006B119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xmlns="" id="{94A8FC37-048C-9143-1966-5F4AAA9CECA4}"/>
              </a:ext>
            </a:extLst>
          </p:cNvPr>
          <p:cNvSpPr>
            <a:spLocks noGrp="1"/>
          </p:cNvSpPr>
          <p:nvPr>
            <p:ph type="sldNum" sz="quarter" idx="12"/>
          </p:nvPr>
        </p:nvSpPr>
        <p:spPr/>
        <p:txBody>
          <a:bodyPr/>
          <a:lstStyle/>
          <a:p>
            <a:fld id="{DFD12C00-D7C5-46A7-8C77-E09279EE5061}" type="slidenum">
              <a:rPr lang="en-GB" smtClean="0"/>
              <a:t>‹#›</a:t>
            </a:fld>
            <a:endParaRPr lang="en-GB"/>
          </a:p>
        </p:txBody>
      </p:sp>
    </p:spTree>
    <p:extLst>
      <p:ext uri="{BB962C8B-B14F-4D97-AF65-F5344CB8AC3E}">
        <p14:creationId xmlns:p14="http://schemas.microsoft.com/office/powerpoint/2010/main" val="26229422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7CD430C-2FE7-5E7E-AB10-FFBA1EC025D5}"/>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xmlns="" id="{908422C7-CD76-0F3C-12EC-3D40FB171F5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5BAD3AAD-A0E3-282A-818E-08D4D609A18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xmlns="" id="{9D4737E5-ABBC-37F2-A2AE-41CAA501DE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33ACF29C-56CC-2D5D-6658-5EA93C4CA88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xmlns="" id="{4E993A82-23D3-9719-DE13-54B5A0857891}"/>
              </a:ext>
            </a:extLst>
          </p:cNvPr>
          <p:cNvSpPr>
            <a:spLocks noGrp="1"/>
          </p:cNvSpPr>
          <p:nvPr>
            <p:ph type="dt" sz="half" idx="10"/>
          </p:nvPr>
        </p:nvSpPr>
        <p:spPr/>
        <p:txBody>
          <a:bodyPr/>
          <a:lstStyle/>
          <a:p>
            <a:fld id="{3BA9E546-27B2-4ADF-B6D2-30B91844C774}" type="datetimeFigureOut">
              <a:rPr lang="en-GB" smtClean="0"/>
              <a:t>27/03/2026</a:t>
            </a:fld>
            <a:endParaRPr lang="en-GB"/>
          </a:p>
        </p:txBody>
      </p:sp>
      <p:sp>
        <p:nvSpPr>
          <p:cNvPr id="8" name="Footer Placeholder 7">
            <a:extLst>
              <a:ext uri="{FF2B5EF4-FFF2-40B4-BE49-F238E27FC236}">
                <a16:creationId xmlns:a16="http://schemas.microsoft.com/office/drawing/2014/main" xmlns="" id="{1499C3C5-C4BA-A399-311E-8C5C25E204D4}"/>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xmlns="" id="{B133819A-1DF6-4B2F-EC4F-E6F328E595B6}"/>
              </a:ext>
            </a:extLst>
          </p:cNvPr>
          <p:cNvSpPr>
            <a:spLocks noGrp="1"/>
          </p:cNvSpPr>
          <p:nvPr>
            <p:ph type="sldNum" sz="quarter" idx="12"/>
          </p:nvPr>
        </p:nvSpPr>
        <p:spPr/>
        <p:txBody>
          <a:bodyPr/>
          <a:lstStyle/>
          <a:p>
            <a:fld id="{DFD12C00-D7C5-46A7-8C77-E09279EE5061}" type="slidenum">
              <a:rPr lang="en-GB" smtClean="0"/>
              <a:t>‹#›</a:t>
            </a:fld>
            <a:endParaRPr lang="en-GB"/>
          </a:p>
        </p:txBody>
      </p:sp>
    </p:spTree>
    <p:extLst>
      <p:ext uri="{BB962C8B-B14F-4D97-AF65-F5344CB8AC3E}">
        <p14:creationId xmlns:p14="http://schemas.microsoft.com/office/powerpoint/2010/main" val="19164937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E92C680-6D20-D02A-D8F8-5ED19E0EE5D2}"/>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xmlns="" id="{082E2637-7E7D-5C71-4195-A80EBB93D840}"/>
              </a:ext>
            </a:extLst>
          </p:cNvPr>
          <p:cNvSpPr>
            <a:spLocks noGrp="1"/>
          </p:cNvSpPr>
          <p:nvPr>
            <p:ph type="dt" sz="half" idx="10"/>
          </p:nvPr>
        </p:nvSpPr>
        <p:spPr/>
        <p:txBody>
          <a:bodyPr/>
          <a:lstStyle/>
          <a:p>
            <a:fld id="{3BA9E546-27B2-4ADF-B6D2-30B91844C774}" type="datetimeFigureOut">
              <a:rPr lang="en-GB" smtClean="0"/>
              <a:t>27/03/2026</a:t>
            </a:fld>
            <a:endParaRPr lang="en-GB"/>
          </a:p>
        </p:txBody>
      </p:sp>
      <p:sp>
        <p:nvSpPr>
          <p:cNvPr id="4" name="Footer Placeholder 3">
            <a:extLst>
              <a:ext uri="{FF2B5EF4-FFF2-40B4-BE49-F238E27FC236}">
                <a16:creationId xmlns:a16="http://schemas.microsoft.com/office/drawing/2014/main" xmlns="" id="{D0F9E939-2557-E117-EEAB-52D9CA0FD0BE}"/>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xmlns="" id="{63E44B09-74F4-A40C-9D14-057365613D8D}"/>
              </a:ext>
            </a:extLst>
          </p:cNvPr>
          <p:cNvSpPr>
            <a:spLocks noGrp="1"/>
          </p:cNvSpPr>
          <p:nvPr>
            <p:ph type="sldNum" sz="quarter" idx="12"/>
          </p:nvPr>
        </p:nvSpPr>
        <p:spPr/>
        <p:txBody>
          <a:bodyPr/>
          <a:lstStyle/>
          <a:p>
            <a:fld id="{DFD12C00-D7C5-46A7-8C77-E09279EE5061}" type="slidenum">
              <a:rPr lang="en-GB" smtClean="0"/>
              <a:t>‹#›</a:t>
            </a:fld>
            <a:endParaRPr lang="en-GB"/>
          </a:p>
        </p:txBody>
      </p:sp>
    </p:spTree>
    <p:extLst>
      <p:ext uri="{BB962C8B-B14F-4D97-AF65-F5344CB8AC3E}">
        <p14:creationId xmlns:p14="http://schemas.microsoft.com/office/powerpoint/2010/main" val="16638284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A87FCF43-066E-6503-A76D-298FA72772B1}"/>
              </a:ext>
            </a:extLst>
          </p:cNvPr>
          <p:cNvSpPr>
            <a:spLocks noGrp="1"/>
          </p:cNvSpPr>
          <p:nvPr>
            <p:ph type="dt" sz="half" idx="10"/>
          </p:nvPr>
        </p:nvSpPr>
        <p:spPr/>
        <p:txBody>
          <a:bodyPr/>
          <a:lstStyle/>
          <a:p>
            <a:fld id="{3BA9E546-27B2-4ADF-B6D2-30B91844C774}" type="datetimeFigureOut">
              <a:rPr lang="en-GB" smtClean="0"/>
              <a:t>27/03/2026</a:t>
            </a:fld>
            <a:endParaRPr lang="en-GB"/>
          </a:p>
        </p:txBody>
      </p:sp>
      <p:sp>
        <p:nvSpPr>
          <p:cNvPr id="3" name="Footer Placeholder 2">
            <a:extLst>
              <a:ext uri="{FF2B5EF4-FFF2-40B4-BE49-F238E27FC236}">
                <a16:creationId xmlns:a16="http://schemas.microsoft.com/office/drawing/2014/main" xmlns="" id="{94B3D84A-7E81-1A80-CB80-EF4E07B9269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xmlns="" id="{4D66D543-1AB4-BB40-4EC7-D0D6174A5B71}"/>
              </a:ext>
            </a:extLst>
          </p:cNvPr>
          <p:cNvSpPr>
            <a:spLocks noGrp="1"/>
          </p:cNvSpPr>
          <p:nvPr>
            <p:ph type="sldNum" sz="quarter" idx="12"/>
          </p:nvPr>
        </p:nvSpPr>
        <p:spPr/>
        <p:txBody>
          <a:bodyPr/>
          <a:lstStyle/>
          <a:p>
            <a:fld id="{DFD12C00-D7C5-46A7-8C77-E09279EE5061}" type="slidenum">
              <a:rPr lang="en-GB" smtClean="0"/>
              <a:t>‹#›</a:t>
            </a:fld>
            <a:endParaRPr lang="en-GB"/>
          </a:p>
        </p:txBody>
      </p:sp>
    </p:spTree>
    <p:extLst>
      <p:ext uri="{BB962C8B-B14F-4D97-AF65-F5344CB8AC3E}">
        <p14:creationId xmlns:p14="http://schemas.microsoft.com/office/powerpoint/2010/main" val="2873863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A195E5B-0978-CEEA-C070-767E7A3DA9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xmlns="" id="{893D7371-F8C6-E3CD-987A-70DAF10613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xmlns="" id="{97A146D4-35F1-2912-BBCA-A440F6D842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5CFDC8F9-9510-CE77-6750-46504D82551E}"/>
              </a:ext>
            </a:extLst>
          </p:cNvPr>
          <p:cNvSpPr>
            <a:spLocks noGrp="1"/>
          </p:cNvSpPr>
          <p:nvPr>
            <p:ph type="dt" sz="half" idx="10"/>
          </p:nvPr>
        </p:nvSpPr>
        <p:spPr/>
        <p:txBody>
          <a:bodyPr/>
          <a:lstStyle/>
          <a:p>
            <a:fld id="{3BA9E546-27B2-4ADF-B6D2-30B91844C774}" type="datetimeFigureOut">
              <a:rPr lang="en-GB" smtClean="0"/>
              <a:t>27/03/2026</a:t>
            </a:fld>
            <a:endParaRPr lang="en-GB"/>
          </a:p>
        </p:txBody>
      </p:sp>
      <p:sp>
        <p:nvSpPr>
          <p:cNvPr id="6" name="Footer Placeholder 5">
            <a:extLst>
              <a:ext uri="{FF2B5EF4-FFF2-40B4-BE49-F238E27FC236}">
                <a16:creationId xmlns:a16="http://schemas.microsoft.com/office/drawing/2014/main" xmlns="" id="{41B2B5B7-08A9-3916-6DE4-CE7547CBFCA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xmlns="" id="{3D74D0E0-A2E8-3680-20F4-94E8926606C9}"/>
              </a:ext>
            </a:extLst>
          </p:cNvPr>
          <p:cNvSpPr>
            <a:spLocks noGrp="1"/>
          </p:cNvSpPr>
          <p:nvPr>
            <p:ph type="sldNum" sz="quarter" idx="12"/>
          </p:nvPr>
        </p:nvSpPr>
        <p:spPr/>
        <p:txBody>
          <a:bodyPr/>
          <a:lstStyle/>
          <a:p>
            <a:fld id="{DFD12C00-D7C5-46A7-8C77-E09279EE5061}" type="slidenum">
              <a:rPr lang="en-GB" smtClean="0"/>
              <a:t>‹#›</a:t>
            </a:fld>
            <a:endParaRPr lang="en-GB"/>
          </a:p>
        </p:txBody>
      </p:sp>
    </p:spTree>
    <p:extLst>
      <p:ext uri="{BB962C8B-B14F-4D97-AF65-F5344CB8AC3E}">
        <p14:creationId xmlns:p14="http://schemas.microsoft.com/office/powerpoint/2010/main" val="33914732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DA19A72-F5DE-7684-8AB5-57EA825D67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xmlns="" id="{7331818E-9023-19A8-2BA7-671925B7F2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xmlns="" id="{28686080-E937-C602-F656-D8EED6F601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7245232D-3F58-0A4C-B770-C55B4F0DEEFA}"/>
              </a:ext>
            </a:extLst>
          </p:cNvPr>
          <p:cNvSpPr>
            <a:spLocks noGrp="1"/>
          </p:cNvSpPr>
          <p:nvPr>
            <p:ph type="dt" sz="half" idx="10"/>
          </p:nvPr>
        </p:nvSpPr>
        <p:spPr/>
        <p:txBody>
          <a:bodyPr/>
          <a:lstStyle/>
          <a:p>
            <a:fld id="{3BA9E546-27B2-4ADF-B6D2-30B91844C774}" type="datetimeFigureOut">
              <a:rPr lang="en-GB" smtClean="0"/>
              <a:t>27/03/2026</a:t>
            </a:fld>
            <a:endParaRPr lang="en-GB"/>
          </a:p>
        </p:txBody>
      </p:sp>
      <p:sp>
        <p:nvSpPr>
          <p:cNvPr id="6" name="Footer Placeholder 5">
            <a:extLst>
              <a:ext uri="{FF2B5EF4-FFF2-40B4-BE49-F238E27FC236}">
                <a16:creationId xmlns:a16="http://schemas.microsoft.com/office/drawing/2014/main" xmlns="" id="{ED784EB4-84C0-6616-4A47-BE073EFE297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xmlns="" id="{1A91D33A-7CA5-236F-1100-C1E94669C16B}"/>
              </a:ext>
            </a:extLst>
          </p:cNvPr>
          <p:cNvSpPr>
            <a:spLocks noGrp="1"/>
          </p:cNvSpPr>
          <p:nvPr>
            <p:ph type="sldNum" sz="quarter" idx="12"/>
          </p:nvPr>
        </p:nvSpPr>
        <p:spPr/>
        <p:txBody>
          <a:bodyPr/>
          <a:lstStyle/>
          <a:p>
            <a:fld id="{DFD12C00-D7C5-46A7-8C77-E09279EE5061}" type="slidenum">
              <a:rPr lang="en-GB" smtClean="0"/>
              <a:t>‹#›</a:t>
            </a:fld>
            <a:endParaRPr lang="en-GB"/>
          </a:p>
        </p:txBody>
      </p:sp>
    </p:spTree>
    <p:extLst>
      <p:ext uri="{BB962C8B-B14F-4D97-AF65-F5344CB8AC3E}">
        <p14:creationId xmlns:p14="http://schemas.microsoft.com/office/powerpoint/2010/main" val="6231506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49DB282-DD82-FCDE-18D2-7EA92C3C8812}"/>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xmlns="" id="{AE1BFBFA-2323-32CA-C115-4CF271DE6D5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684BD001-9EB5-63DB-02BA-6563CB397770}"/>
              </a:ext>
            </a:extLst>
          </p:cNvPr>
          <p:cNvSpPr>
            <a:spLocks noGrp="1"/>
          </p:cNvSpPr>
          <p:nvPr>
            <p:ph type="dt" sz="half" idx="10"/>
          </p:nvPr>
        </p:nvSpPr>
        <p:spPr/>
        <p:txBody>
          <a:bodyPr/>
          <a:lstStyle/>
          <a:p>
            <a:fld id="{3BA9E546-27B2-4ADF-B6D2-30B91844C774}" type="datetimeFigureOut">
              <a:rPr lang="en-GB" smtClean="0"/>
              <a:t>27/03/2026</a:t>
            </a:fld>
            <a:endParaRPr lang="en-GB"/>
          </a:p>
        </p:txBody>
      </p:sp>
      <p:sp>
        <p:nvSpPr>
          <p:cNvPr id="5" name="Footer Placeholder 4">
            <a:extLst>
              <a:ext uri="{FF2B5EF4-FFF2-40B4-BE49-F238E27FC236}">
                <a16:creationId xmlns:a16="http://schemas.microsoft.com/office/drawing/2014/main" xmlns="" id="{D8347659-AA54-50BC-4B8C-FDAFD446548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96C04B51-E93E-9F9C-E6FE-6B023B4604B0}"/>
              </a:ext>
            </a:extLst>
          </p:cNvPr>
          <p:cNvSpPr>
            <a:spLocks noGrp="1"/>
          </p:cNvSpPr>
          <p:nvPr>
            <p:ph type="sldNum" sz="quarter" idx="12"/>
          </p:nvPr>
        </p:nvSpPr>
        <p:spPr/>
        <p:txBody>
          <a:bodyPr/>
          <a:lstStyle/>
          <a:p>
            <a:fld id="{DFD12C00-D7C5-46A7-8C77-E09279EE5061}" type="slidenum">
              <a:rPr lang="en-GB" smtClean="0"/>
              <a:t>‹#›</a:t>
            </a:fld>
            <a:endParaRPr lang="en-GB"/>
          </a:p>
        </p:txBody>
      </p:sp>
    </p:spTree>
    <p:extLst>
      <p:ext uri="{BB962C8B-B14F-4D97-AF65-F5344CB8AC3E}">
        <p14:creationId xmlns:p14="http://schemas.microsoft.com/office/powerpoint/2010/main" val="2905225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7486BF52-2437-02BC-52D0-297257526D5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xmlns="" id="{B979BDBC-6274-1583-D0CC-F359924ADCD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93EB3BEA-415D-6F5E-C740-F377E73141C7}"/>
              </a:ext>
            </a:extLst>
          </p:cNvPr>
          <p:cNvSpPr>
            <a:spLocks noGrp="1"/>
          </p:cNvSpPr>
          <p:nvPr>
            <p:ph type="dt" sz="half" idx="10"/>
          </p:nvPr>
        </p:nvSpPr>
        <p:spPr/>
        <p:txBody>
          <a:bodyPr/>
          <a:lstStyle/>
          <a:p>
            <a:fld id="{3BA9E546-27B2-4ADF-B6D2-30B91844C774}" type="datetimeFigureOut">
              <a:rPr lang="en-GB" smtClean="0"/>
              <a:t>27/03/2026</a:t>
            </a:fld>
            <a:endParaRPr lang="en-GB"/>
          </a:p>
        </p:txBody>
      </p:sp>
      <p:sp>
        <p:nvSpPr>
          <p:cNvPr id="5" name="Footer Placeholder 4">
            <a:extLst>
              <a:ext uri="{FF2B5EF4-FFF2-40B4-BE49-F238E27FC236}">
                <a16:creationId xmlns:a16="http://schemas.microsoft.com/office/drawing/2014/main" xmlns="" id="{97CAB293-20D6-80E5-527F-0602DA25004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89C369DC-A82B-E378-37EE-44B5E0BB52A8}"/>
              </a:ext>
            </a:extLst>
          </p:cNvPr>
          <p:cNvSpPr>
            <a:spLocks noGrp="1"/>
          </p:cNvSpPr>
          <p:nvPr>
            <p:ph type="sldNum" sz="quarter" idx="12"/>
          </p:nvPr>
        </p:nvSpPr>
        <p:spPr/>
        <p:txBody>
          <a:bodyPr/>
          <a:lstStyle/>
          <a:p>
            <a:fld id="{DFD12C00-D7C5-46A7-8C77-E09279EE5061}" type="slidenum">
              <a:rPr lang="en-GB" smtClean="0"/>
              <a:t>‹#›</a:t>
            </a:fld>
            <a:endParaRPr lang="en-GB"/>
          </a:p>
        </p:txBody>
      </p:sp>
    </p:spTree>
    <p:extLst>
      <p:ext uri="{BB962C8B-B14F-4D97-AF65-F5344CB8AC3E}">
        <p14:creationId xmlns:p14="http://schemas.microsoft.com/office/powerpoint/2010/main" val="638669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03CB9F99-A613-EF37-12CD-7626153CD4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xmlns="" id="{633DD35E-A48A-F143-62A5-456ABCB7A0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D6D52B8F-8991-FF86-1AB7-965F8ADDC8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A9E546-27B2-4ADF-B6D2-30B91844C774}" type="datetimeFigureOut">
              <a:rPr lang="en-GB" smtClean="0"/>
              <a:t>27/03/2026</a:t>
            </a:fld>
            <a:endParaRPr lang="en-GB"/>
          </a:p>
        </p:txBody>
      </p:sp>
      <p:sp>
        <p:nvSpPr>
          <p:cNvPr id="5" name="Footer Placeholder 4">
            <a:extLst>
              <a:ext uri="{FF2B5EF4-FFF2-40B4-BE49-F238E27FC236}">
                <a16:creationId xmlns:a16="http://schemas.microsoft.com/office/drawing/2014/main" xmlns="" id="{4406B4BD-BD2B-A07C-1666-9CCC05D27A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xmlns="" id="{5B543583-302E-A38C-0C3E-7B6A82F4B1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D12C00-D7C5-46A7-8C77-E09279EE5061}" type="slidenum">
              <a:rPr lang="en-GB" smtClean="0"/>
              <a:t>‹#›</a:t>
            </a:fld>
            <a:endParaRPr lang="en-GB"/>
          </a:p>
        </p:txBody>
      </p:sp>
    </p:spTree>
    <p:extLst>
      <p:ext uri="{BB962C8B-B14F-4D97-AF65-F5344CB8AC3E}">
        <p14:creationId xmlns:p14="http://schemas.microsoft.com/office/powerpoint/2010/main" val="18612496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5082056-BA3A-503B-8882-33D125F06A76}"/>
              </a:ext>
            </a:extLst>
          </p:cNvPr>
          <p:cNvSpPr>
            <a:spLocks noGrp="1"/>
          </p:cNvSpPr>
          <p:nvPr>
            <p:ph type="ctrTitle"/>
          </p:nvPr>
        </p:nvSpPr>
        <p:spPr/>
        <p:txBody>
          <a:bodyPr/>
          <a:lstStyle/>
          <a:p>
            <a:r>
              <a:rPr lang="en-GB" dirty="0"/>
              <a:t>Session 3</a:t>
            </a:r>
          </a:p>
        </p:txBody>
      </p:sp>
      <p:sp>
        <p:nvSpPr>
          <p:cNvPr id="3" name="Subtitle 2">
            <a:extLst>
              <a:ext uri="{FF2B5EF4-FFF2-40B4-BE49-F238E27FC236}">
                <a16:creationId xmlns:a16="http://schemas.microsoft.com/office/drawing/2014/main" xmlns="" id="{94244123-4F65-DABC-FAA6-D10711CF24AC}"/>
              </a:ext>
            </a:extLst>
          </p:cNvPr>
          <p:cNvSpPr>
            <a:spLocks noGrp="1"/>
          </p:cNvSpPr>
          <p:nvPr>
            <p:ph type="subTitle" idx="1"/>
          </p:nvPr>
        </p:nvSpPr>
        <p:spPr/>
        <p:txBody>
          <a:bodyPr/>
          <a:lstStyle/>
          <a:p>
            <a:r>
              <a:rPr lang="en-GB" dirty="0"/>
              <a:t>Prof. Peter Alexiadis &amp; Prof. David Bailey K.C.</a:t>
            </a:r>
          </a:p>
        </p:txBody>
      </p:sp>
      <p:pic>
        <p:nvPicPr>
          <p:cNvPr id="5" name="Picture 4" descr="A blue and white logo with white stars and a book&#10;&#10;AI-generated content may be incorrect.">
            <a:extLst>
              <a:ext uri="{FF2B5EF4-FFF2-40B4-BE49-F238E27FC236}">
                <a16:creationId xmlns:a16="http://schemas.microsoft.com/office/drawing/2014/main" xmlns="" id="{CEEE8D98-CC1A-D823-FBD6-EB38A766EE1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0481" y="298492"/>
            <a:ext cx="5315918" cy="1886769"/>
          </a:xfrm>
          <a:prstGeom prst="rect">
            <a:avLst/>
          </a:prstGeom>
        </p:spPr>
      </p:pic>
      <p:pic>
        <p:nvPicPr>
          <p:cNvPr id="1026" name="Picture 2">
            <a:extLst>
              <a:ext uri="{FF2B5EF4-FFF2-40B4-BE49-F238E27FC236}">
                <a16:creationId xmlns:a16="http://schemas.microsoft.com/office/drawing/2014/main" xmlns="" id="{1EBFABC6-71DD-3F72-11BF-C5B12A96D8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69464" y="329954"/>
            <a:ext cx="2247255" cy="14437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40182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06672914-F3C3-4022-5B71-39FBB6468869}"/>
              </a:ext>
            </a:extLst>
          </p:cNvPr>
          <p:cNvSpPr txBox="1"/>
          <p:nvPr/>
        </p:nvSpPr>
        <p:spPr>
          <a:xfrm>
            <a:off x="3724856" y="170480"/>
            <a:ext cx="3884813" cy="584775"/>
          </a:xfrm>
          <a:prstGeom prst="rect">
            <a:avLst/>
          </a:prstGeom>
          <a:noFill/>
        </p:spPr>
        <p:txBody>
          <a:bodyPr wrap="square" rtlCol="0">
            <a:spAutoFit/>
          </a:bodyPr>
          <a:lstStyle/>
          <a:p>
            <a:r>
              <a:rPr lang="aa-ET" sz="3200" b="1" dirty="0"/>
              <a:t>TABLE OF CONTENTS </a:t>
            </a:r>
          </a:p>
        </p:txBody>
      </p:sp>
      <p:sp>
        <p:nvSpPr>
          <p:cNvPr id="3" name="TextBox 2">
            <a:extLst>
              <a:ext uri="{FF2B5EF4-FFF2-40B4-BE49-F238E27FC236}">
                <a16:creationId xmlns:a16="http://schemas.microsoft.com/office/drawing/2014/main" xmlns="" id="{070B119B-1C26-7C0D-6D0E-C69CA756607C}"/>
              </a:ext>
            </a:extLst>
          </p:cNvPr>
          <p:cNvSpPr txBox="1"/>
          <p:nvPr/>
        </p:nvSpPr>
        <p:spPr>
          <a:xfrm>
            <a:off x="347241" y="755255"/>
            <a:ext cx="10966522" cy="6124754"/>
          </a:xfrm>
          <a:prstGeom prst="rect">
            <a:avLst/>
          </a:prstGeom>
          <a:noFill/>
        </p:spPr>
        <p:txBody>
          <a:bodyPr wrap="square" rtlCol="0">
            <a:spAutoFit/>
          </a:bodyPr>
          <a:lstStyle/>
          <a:p>
            <a:r>
              <a:rPr lang="aa-ET" sz="2800" dirty="0"/>
              <a:t>				I. AN OVERVIEW OF </a:t>
            </a:r>
          </a:p>
          <a:p>
            <a:r>
              <a:rPr lang="aa-ET" sz="2800" dirty="0"/>
              <a:t>				COMPETITION POLICY</a:t>
            </a:r>
          </a:p>
          <a:p>
            <a:pPr marL="571500" indent="-571500">
              <a:buAutoNum type="romanUcPeriod"/>
            </a:pPr>
            <a:endParaRPr lang="aa-ET" sz="2800" dirty="0"/>
          </a:p>
          <a:p>
            <a:r>
              <a:rPr lang="aa-ET" sz="2800" dirty="0"/>
              <a:t>II. MULTILATERAL PRACTICES        IV. GOVERNANCE &amp; PROCEDURE   </a:t>
            </a:r>
          </a:p>
          <a:p>
            <a:r>
              <a:rPr lang="aa-ET" dirty="0"/>
              <a:t>1. CARTEL PROCEDURE 			    1. PUBLIC vs PRIVATE ENFORCEMENT		</a:t>
            </a:r>
          </a:p>
          <a:p>
            <a:pPr marL="285750" indent="-285750">
              <a:buFont typeface="Courier New" panose="02070309020205020404" pitchFamily="49" charset="0"/>
              <a:buChar char="o"/>
            </a:pPr>
            <a:r>
              <a:rPr lang="aa-ET" dirty="0"/>
              <a:t>HUB-AND-SPOKE CARTELS 		    2. BURDEN &amp; STANDARD OF PROOF                     </a:t>
            </a:r>
          </a:p>
          <a:p>
            <a:pPr marL="285750" indent="-285750">
              <a:buFont typeface="Courier New" panose="02070309020205020404" pitchFamily="49" charset="0"/>
              <a:buChar char="o"/>
            </a:pPr>
            <a:r>
              <a:rPr lang="aa-ET" dirty="0"/>
              <a:t>BID-RIGGING SCENARIOS			    3. ROLE OF PRESUMPTIONS</a:t>
            </a:r>
          </a:p>
          <a:p>
            <a:r>
              <a:rPr lang="aa-ET" dirty="0"/>
              <a:t>2. COOPERATION AGREEMENTS		    4. COMPETITION VS. REGULATION		     </a:t>
            </a:r>
          </a:p>
          <a:p>
            <a:pPr marL="285750" indent="-285750">
              <a:buFont typeface="Courier New" panose="02070309020205020404" pitchFamily="49" charset="0"/>
              <a:buChar char="o"/>
            </a:pPr>
            <a:r>
              <a:rPr lang="aa-ET" dirty="0"/>
              <a:t>EXCHANGES OF INFORMATION 		     5.INSTITUTIONAL COOPERATION </a:t>
            </a:r>
          </a:p>
          <a:p>
            <a:pPr marL="285750" indent="-285750">
              <a:buFont typeface="Courier New" panose="02070309020205020404" pitchFamily="49" charset="0"/>
              <a:buChar char="o"/>
            </a:pPr>
            <a:r>
              <a:rPr lang="aa-ET" dirty="0"/>
              <a:t>STANDARDISATION BODIES</a:t>
            </a:r>
          </a:p>
          <a:p>
            <a:r>
              <a:rPr lang="aa-ET" dirty="0"/>
              <a:t>3. VERTICAL RESTRAINTS</a:t>
            </a:r>
          </a:p>
          <a:p>
            <a:endParaRPr lang="aa-ET" dirty="0"/>
          </a:p>
          <a:p>
            <a:r>
              <a:rPr lang="aa-ET" sz="2800" dirty="0"/>
              <a:t>III. UNILATERAL PRACTICES	   IV. STATE ENTITIES </a:t>
            </a:r>
          </a:p>
          <a:p>
            <a:pPr marL="342900" indent="-342900">
              <a:buAutoNum type="arabicPeriod"/>
            </a:pPr>
            <a:r>
              <a:rPr lang="aa-ET" dirty="0"/>
              <a:t>MARKET DEFINITION 			    1.  DISCIPLINING STATE ENTITIES </a:t>
            </a:r>
          </a:p>
          <a:p>
            <a:pPr marL="342900" indent="-342900">
              <a:buAutoNum type="arabicPeriod"/>
            </a:pPr>
            <a:r>
              <a:rPr lang="aa-ET" dirty="0"/>
              <a:t>HIGH TECH ABUSES 	     		    2. REGULATING STATE SUBSIDIES	</a:t>
            </a:r>
          </a:p>
          <a:p>
            <a:pPr marL="285750" indent="-285750">
              <a:buFont typeface="Courier New" panose="02070309020205020404" pitchFamily="49" charset="0"/>
              <a:buChar char="o"/>
            </a:pPr>
            <a:r>
              <a:rPr lang="aa-ET" dirty="0"/>
              <a:t>MARGIN SQUEEZES</a:t>
            </a:r>
          </a:p>
          <a:p>
            <a:pPr marL="285750" indent="-285750">
              <a:buFont typeface="Courier New" panose="02070309020205020404" pitchFamily="49" charset="0"/>
              <a:buChar char="o"/>
            </a:pPr>
            <a:r>
              <a:rPr lang="aa-ET" dirty="0"/>
              <a:t>SELF-PREFERENCING</a:t>
            </a:r>
          </a:p>
          <a:p>
            <a:r>
              <a:rPr lang="aa-ET" dirty="0"/>
              <a:t>3. REFUSALS TO DEAL</a:t>
            </a:r>
          </a:p>
          <a:p>
            <a:r>
              <a:rPr lang="aa-ET" dirty="0"/>
              <a:t>4. EXPLOITATIVE ABUSES </a:t>
            </a:r>
          </a:p>
        </p:txBody>
      </p:sp>
    </p:spTree>
    <p:extLst>
      <p:ext uri="{BB962C8B-B14F-4D97-AF65-F5344CB8AC3E}">
        <p14:creationId xmlns:p14="http://schemas.microsoft.com/office/powerpoint/2010/main" val="3878486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a-ET" b="1" dirty="0"/>
              <a:t>I. COMPETITION POLICY OVERVIEW (i)</a:t>
            </a:r>
            <a:endParaRPr lang="en-GB" dirty="0"/>
          </a:p>
        </p:txBody>
      </p:sp>
      <p:sp>
        <p:nvSpPr>
          <p:cNvPr id="3" name="Content Placeholder 2"/>
          <p:cNvSpPr>
            <a:spLocks noGrp="1"/>
          </p:cNvSpPr>
          <p:nvPr>
            <p:ph idx="1"/>
          </p:nvPr>
        </p:nvSpPr>
        <p:spPr/>
        <p:txBody>
          <a:bodyPr>
            <a:normAutofit lnSpcReduction="10000"/>
          </a:bodyPr>
          <a:lstStyle/>
          <a:p>
            <a:pPr marL="0" indent="0">
              <a:buNone/>
            </a:pPr>
            <a:r>
              <a:rPr lang="en-GB" b="1" dirty="0"/>
              <a:t>WHY COMPETITION LAW</a:t>
            </a:r>
            <a:r>
              <a:rPr lang="en-GB" dirty="0"/>
              <a:t>?</a:t>
            </a:r>
          </a:p>
          <a:p>
            <a:r>
              <a:rPr lang="en-GB" dirty="0"/>
              <a:t>There is a widespread belief in markets → de-monopolisation, deregulation, liberalisation, adoption of market-based economies</a:t>
            </a:r>
          </a:p>
          <a:p>
            <a:r>
              <a:rPr lang="en-GB" dirty="0"/>
              <a:t>As a general proposition markets should police themselves</a:t>
            </a:r>
          </a:p>
          <a:p>
            <a:pPr lvl="1"/>
            <a:r>
              <a:rPr lang="en-GB" dirty="0"/>
              <a:t>In a competitive market, no firm can determine output or price</a:t>
            </a:r>
          </a:p>
          <a:p>
            <a:pPr lvl="1"/>
            <a:r>
              <a:rPr lang="en-GB" dirty="0"/>
              <a:t>In a competitive market, it is consumers who decide what they want, how much they want, when and for how much!</a:t>
            </a:r>
          </a:p>
          <a:p>
            <a:r>
              <a:rPr lang="en-GB" dirty="0"/>
              <a:t>But firms may have market power and there is a risk of abuse of market power</a:t>
            </a:r>
          </a:p>
          <a:p>
            <a:r>
              <a:rPr lang="en-GB" dirty="0"/>
              <a:t>Competition laws ensure that the free market is not abused and that the process of competition is not restricted or distorted</a:t>
            </a:r>
          </a:p>
        </p:txBody>
      </p:sp>
    </p:spTree>
    <p:extLst>
      <p:ext uri="{BB962C8B-B14F-4D97-AF65-F5344CB8AC3E}">
        <p14:creationId xmlns:p14="http://schemas.microsoft.com/office/powerpoint/2010/main" val="30625833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a-ET" b="1" dirty="0"/>
              <a:t>I. COMPETITION POLICY OVERVIEW (</a:t>
            </a:r>
            <a:r>
              <a:rPr lang="en-GB" b="1" dirty="0" err="1"/>
              <a:t>i</a:t>
            </a:r>
            <a:r>
              <a:rPr lang="aa-ET" b="1" dirty="0"/>
              <a:t>i)</a:t>
            </a:r>
            <a:endParaRPr lang="en-GB" dirty="0"/>
          </a:p>
        </p:txBody>
      </p:sp>
      <p:sp>
        <p:nvSpPr>
          <p:cNvPr id="3" name="Content Placeholder 2"/>
          <p:cNvSpPr>
            <a:spLocks noGrp="1"/>
          </p:cNvSpPr>
          <p:nvPr>
            <p:ph idx="1"/>
          </p:nvPr>
        </p:nvSpPr>
        <p:spPr/>
        <p:txBody>
          <a:bodyPr>
            <a:normAutofit fontScale="92500" lnSpcReduction="10000"/>
          </a:bodyPr>
          <a:lstStyle/>
          <a:p>
            <a:pPr marL="0" indent="0">
              <a:buNone/>
            </a:pPr>
            <a:r>
              <a:rPr lang="en-GB" b="1" dirty="0"/>
              <a:t>WHY COMPETITION LAW</a:t>
            </a:r>
            <a:r>
              <a:rPr lang="en-GB" dirty="0"/>
              <a:t>?</a:t>
            </a:r>
          </a:p>
          <a:p>
            <a:r>
              <a:rPr lang="en-GB" dirty="0"/>
              <a:t>Competition law has grown at a phenomenal rate in recent years in response to profound changes in thinking and a growing appreciation of competition</a:t>
            </a:r>
          </a:p>
          <a:p>
            <a:pPr lvl="1"/>
            <a:r>
              <a:rPr lang="en-GB" dirty="0"/>
              <a:t>Competition is “</a:t>
            </a:r>
            <a:r>
              <a:rPr lang="en-GB" i="1" dirty="0"/>
              <a:t>the keen, cutting edge of business</a:t>
            </a:r>
            <a:r>
              <a:rPr lang="en-GB" dirty="0"/>
              <a:t>” (Henry Ford)</a:t>
            </a:r>
          </a:p>
          <a:p>
            <a:pPr lvl="1"/>
            <a:r>
              <a:rPr lang="en-GB" dirty="0"/>
              <a:t>Competition is “</a:t>
            </a:r>
            <a:r>
              <a:rPr lang="en-GB" i="1" dirty="0"/>
              <a:t>the mother of invention</a:t>
            </a:r>
            <a:r>
              <a:rPr lang="en-GB" dirty="0"/>
              <a:t>” (Horace Jackson Brown Jr)</a:t>
            </a:r>
          </a:p>
          <a:p>
            <a:pPr lvl="1"/>
            <a:r>
              <a:rPr lang="en-GB" dirty="0"/>
              <a:t>Competition is “</a:t>
            </a:r>
            <a:r>
              <a:rPr lang="en-GB" i="1" dirty="0"/>
              <a:t>the incentive to progress</a:t>
            </a:r>
            <a:r>
              <a:rPr lang="en-GB" dirty="0"/>
              <a:t>” and “</a:t>
            </a:r>
            <a:r>
              <a:rPr lang="en-GB" i="1" dirty="0"/>
              <a:t>the basis of protection to the consumer</a:t>
            </a:r>
            <a:r>
              <a:rPr lang="en-GB" dirty="0"/>
              <a:t>” (Herbert Hoover)</a:t>
            </a:r>
          </a:p>
          <a:p>
            <a:r>
              <a:rPr lang="en-GB" dirty="0"/>
              <a:t>There are now at least 130 systems of competition law in the world, in all continents and in all types of economies</a:t>
            </a:r>
          </a:p>
          <a:p>
            <a:r>
              <a:rPr lang="en-GB" dirty="0"/>
              <a:t>Many economic activities that once were regarded as the preserve of the state have been opened up to competition</a:t>
            </a:r>
          </a:p>
        </p:txBody>
      </p:sp>
    </p:spTree>
    <p:extLst>
      <p:ext uri="{BB962C8B-B14F-4D97-AF65-F5344CB8AC3E}">
        <p14:creationId xmlns:p14="http://schemas.microsoft.com/office/powerpoint/2010/main" val="25063410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a-ET" b="1" dirty="0"/>
              <a:t>I. COMPETITION POLICY OVERVIEW (</a:t>
            </a:r>
            <a:r>
              <a:rPr lang="en-GB" b="1" dirty="0"/>
              <a:t>ii</a:t>
            </a:r>
            <a:r>
              <a:rPr lang="aa-ET" b="1" dirty="0"/>
              <a:t>i)</a:t>
            </a:r>
            <a:endParaRPr lang="en-GB" dirty="0"/>
          </a:p>
        </p:txBody>
      </p:sp>
      <p:sp>
        <p:nvSpPr>
          <p:cNvPr id="3" name="Content Placeholder 2"/>
          <p:cNvSpPr>
            <a:spLocks noGrp="1"/>
          </p:cNvSpPr>
          <p:nvPr>
            <p:ph idx="1"/>
          </p:nvPr>
        </p:nvSpPr>
        <p:spPr/>
        <p:txBody>
          <a:bodyPr>
            <a:normAutofit/>
          </a:bodyPr>
          <a:lstStyle/>
          <a:p>
            <a:pPr marL="0" indent="0">
              <a:buNone/>
            </a:pPr>
            <a:r>
              <a:rPr lang="en-GB" b="1" dirty="0"/>
              <a:t>WHY COMPETITION LAW</a:t>
            </a:r>
            <a:r>
              <a:rPr lang="en-GB" dirty="0"/>
              <a:t>?</a:t>
            </a:r>
          </a:p>
          <a:p>
            <a:r>
              <a:rPr lang="en-GB" dirty="0"/>
              <a:t>It is important to be clear what competition law is for</a:t>
            </a:r>
          </a:p>
          <a:p>
            <a:pPr lvl="1"/>
            <a:r>
              <a:rPr lang="en-GB" dirty="0"/>
              <a:t>To protect competition?</a:t>
            </a:r>
          </a:p>
          <a:p>
            <a:pPr lvl="1"/>
            <a:r>
              <a:rPr lang="en-GB" dirty="0"/>
              <a:t>To protect competitors?</a:t>
            </a:r>
          </a:p>
          <a:p>
            <a:pPr lvl="1"/>
            <a:r>
              <a:rPr lang="en-GB" dirty="0"/>
              <a:t>To protect consumers?</a:t>
            </a:r>
          </a:p>
          <a:p>
            <a:pPr lvl="1"/>
            <a:r>
              <a:rPr lang="en-GB" dirty="0"/>
              <a:t>To protect society?</a:t>
            </a:r>
          </a:p>
          <a:p>
            <a:pPr lvl="1"/>
            <a:r>
              <a:rPr lang="en-GB" dirty="0"/>
              <a:t>To protect employees?</a:t>
            </a:r>
          </a:p>
          <a:p>
            <a:pPr lvl="1"/>
            <a:r>
              <a:rPr lang="en-GB" dirty="0"/>
              <a:t>To keep markets open and contestable?</a:t>
            </a:r>
          </a:p>
          <a:p>
            <a:pPr lvl="1"/>
            <a:r>
              <a:rPr lang="en-GB" dirty="0"/>
              <a:t>To achieve fairness in the marketplace?</a:t>
            </a:r>
          </a:p>
          <a:p>
            <a:pPr lvl="1"/>
            <a:endParaRPr lang="en-GB" dirty="0"/>
          </a:p>
          <a:p>
            <a:endParaRPr lang="en-GB" dirty="0"/>
          </a:p>
          <a:p>
            <a:endParaRPr lang="en-GB" dirty="0"/>
          </a:p>
          <a:p>
            <a:endParaRPr lang="en-GB" dirty="0"/>
          </a:p>
        </p:txBody>
      </p:sp>
    </p:spTree>
    <p:extLst>
      <p:ext uri="{BB962C8B-B14F-4D97-AF65-F5344CB8AC3E}">
        <p14:creationId xmlns:p14="http://schemas.microsoft.com/office/powerpoint/2010/main" val="228900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a-ET" b="1" dirty="0"/>
              <a:t>I. COMPETITION POLICY OVERVIEW (</a:t>
            </a:r>
            <a:r>
              <a:rPr lang="en-GB" b="1" dirty="0"/>
              <a:t>iv</a:t>
            </a:r>
            <a:r>
              <a:rPr lang="aa-ET" b="1" dirty="0"/>
              <a:t>)</a:t>
            </a:r>
            <a:endParaRPr lang="en-GB" dirty="0"/>
          </a:p>
        </p:txBody>
      </p:sp>
      <p:sp>
        <p:nvSpPr>
          <p:cNvPr id="3" name="Content Placeholder 2"/>
          <p:cNvSpPr>
            <a:spLocks noGrp="1"/>
          </p:cNvSpPr>
          <p:nvPr>
            <p:ph idx="1"/>
          </p:nvPr>
        </p:nvSpPr>
        <p:spPr/>
        <p:txBody>
          <a:bodyPr>
            <a:normAutofit/>
          </a:bodyPr>
          <a:lstStyle/>
          <a:p>
            <a:pPr marL="0" indent="0">
              <a:buNone/>
            </a:pPr>
            <a:r>
              <a:rPr lang="en-GB" b="1" dirty="0"/>
              <a:t>LIMITS OF COMPETITION LAW</a:t>
            </a:r>
          </a:p>
          <a:p>
            <a:pPr marL="0" indent="0">
              <a:buNone/>
            </a:pPr>
            <a:endParaRPr lang="en-GB" sz="800" dirty="0"/>
          </a:p>
          <a:p>
            <a:r>
              <a:rPr lang="en-GB" dirty="0"/>
              <a:t>Competition law is not consumer protection law</a:t>
            </a:r>
          </a:p>
          <a:p>
            <a:r>
              <a:rPr lang="en-GB" dirty="0"/>
              <a:t>Competition law is not sectoral regulation</a:t>
            </a:r>
          </a:p>
          <a:p>
            <a:r>
              <a:rPr lang="en-GB" dirty="0"/>
              <a:t>Competition law is not an instrument of public policy, whether industrial policy, employment, environmental policy</a:t>
            </a:r>
          </a:p>
          <a:p>
            <a:r>
              <a:rPr lang="en-GB" dirty="0"/>
              <a:t>It is desirable that the limits of competition law should be clearly understood, and that these other policies should be implemented as a result of other instruments available to governments</a:t>
            </a:r>
          </a:p>
          <a:p>
            <a:pPr lvl="1"/>
            <a:endParaRPr lang="en-GB" dirty="0"/>
          </a:p>
        </p:txBody>
      </p:sp>
    </p:spTree>
    <p:extLst>
      <p:ext uri="{BB962C8B-B14F-4D97-AF65-F5344CB8AC3E}">
        <p14:creationId xmlns:p14="http://schemas.microsoft.com/office/powerpoint/2010/main" val="17684884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a-ET" b="1" dirty="0"/>
              <a:t>I. COMPETITION POLICY OVERVIEW (</a:t>
            </a:r>
            <a:r>
              <a:rPr lang="en-GB" b="1" dirty="0"/>
              <a:t>v</a:t>
            </a:r>
            <a:r>
              <a:rPr lang="aa-ET" b="1" dirty="0"/>
              <a:t>)</a:t>
            </a:r>
            <a:endParaRPr lang="en-GB" dirty="0"/>
          </a:p>
        </p:txBody>
      </p:sp>
      <p:sp>
        <p:nvSpPr>
          <p:cNvPr id="3" name="Content Placeholder 2"/>
          <p:cNvSpPr>
            <a:spLocks noGrp="1"/>
          </p:cNvSpPr>
          <p:nvPr>
            <p:ph idx="1"/>
          </p:nvPr>
        </p:nvSpPr>
        <p:spPr/>
        <p:txBody>
          <a:bodyPr/>
          <a:lstStyle/>
          <a:p>
            <a:pPr marL="0" indent="0">
              <a:buNone/>
            </a:pPr>
            <a:r>
              <a:rPr lang="en-GB" b="1" dirty="0"/>
              <a:t>WHAT PROBLEMS DOES COMPETITION LAW ADDRESS</a:t>
            </a:r>
            <a:r>
              <a:rPr lang="en-GB" dirty="0"/>
              <a:t>?</a:t>
            </a:r>
          </a:p>
          <a:p>
            <a:r>
              <a:rPr lang="en-GB" b="1" dirty="0"/>
              <a:t>Anti-competitive agreements</a:t>
            </a:r>
          </a:p>
          <a:p>
            <a:pPr lvl="1"/>
            <a:r>
              <a:rPr lang="en-GB" dirty="0"/>
              <a:t>Agreements between competitors to fix prices, share markets or restrict output</a:t>
            </a:r>
            <a:endParaRPr lang="en-GB" dirty="0">
              <a:solidFill>
                <a:srgbClr val="FF0000"/>
              </a:solidFill>
            </a:endParaRPr>
          </a:p>
          <a:p>
            <a:pPr lvl="1"/>
            <a:r>
              <a:rPr lang="en-GB" dirty="0"/>
              <a:t>Agreements between a supplier and a customer to fix prices, restrict online sales</a:t>
            </a:r>
          </a:p>
          <a:p>
            <a:r>
              <a:rPr lang="en-GB" b="1" dirty="0"/>
              <a:t>Abuse of substantial market power</a:t>
            </a:r>
          </a:p>
          <a:p>
            <a:pPr lvl="1"/>
            <a:r>
              <a:rPr lang="en-GB" dirty="0"/>
              <a:t>Predatory pricing, price discrimination, excessive pricing</a:t>
            </a:r>
          </a:p>
          <a:p>
            <a:pPr lvl="1"/>
            <a:r>
              <a:rPr lang="en-GB" dirty="0"/>
              <a:t>Exclusive dealing, fidelity rebates, tying and bundling</a:t>
            </a:r>
          </a:p>
          <a:p>
            <a:pPr lvl="1"/>
            <a:r>
              <a:rPr lang="en-GB" dirty="0"/>
              <a:t>Refusals to deal, margin squeeze, preferential treatment</a:t>
            </a:r>
          </a:p>
          <a:p>
            <a:pPr lvl="1"/>
            <a:endParaRPr lang="en-GB" dirty="0"/>
          </a:p>
        </p:txBody>
      </p:sp>
    </p:spTree>
    <p:extLst>
      <p:ext uri="{BB962C8B-B14F-4D97-AF65-F5344CB8AC3E}">
        <p14:creationId xmlns:p14="http://schemas.microsoft.com/office/powerpoint/2010/main" val="38214112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a-ET" b="1" dirty="0"/>
              <a:t>I. COMPETITION POLICY OVERVIEW (</a:t>
            </a:r>
            <a:r>
              <a:rPr lang="en-GB" b="1" dirty="0"/>
              <a:t>vi</a:t>
            </a:r>
            <a:r>
              <a:rPr lang="aa-ET" b="1" dirty="0"/>
              <a:t>)</a:t>
            </a:r>
            <a:endParaRPr lang="en-GB" dirty="0"/>
          </a:p>
        </p:txBody>
      </p:sp>
      <p:sp>
        <p:nvSpPr>
          <p:cNvPr id="3" name="Content Placeholder 2"/>
          <p:cNvSpPr>
            <a:spLocks noGrp="1"/>
          </p:cNvSpPr>
          <p:nvPr>
            <p:ph idx="1"/>
          </p:nvPr>
        </p:nvSpPr>
        <p:spPr/>
        <p:txBody>
          <a:bodyPr>
            <a:normAutofit lnSpcReduction="10000"/>
          </a:bodyPr>
          <a:lstStyle/>
          <a:p>
            <a:pPr marL="0" indent="0">
              <a:buNone/>
            </a:pPr>
            <a:r>
              <a:rPr lang="en-GB" b="1" dirty="0"/>
              <a:t>WHAT PROBLEMS DOES COMPETITION LAW ADDRESS</a:t>
            </a:r>
            <a:r>
              <a:rPr lang="en-GB" dirty="0"/>
              <a:t>?</a:t>
            </a:r>
          </a:p>
          <a:p>
            <a:r>
              <a:rPr lang="en-GB" b="1" dirty="0"/>
              <a:t>Merger control</a:t>
            </a:r>
          </a:p>
          <a:p>
            <a:pPr lvl="1"/>
            <a:r>
              <a:rPr lang="en-GB" dirty="0"/>
              <a:t>Harmful mergers and acquisitions are those that give to firms such strong market positions that allow them either to control conduct on today’s markets or to control the development of tomorrow’s ones</a:t>
            </a:r>
          </a:p>
          <a:p>
            <a:pPr lvl="1"/>
            <a:r>
              <a:rPr lang="en-GB" dirty="0"/>
              <a:t>Mergers between competitors may directly remove competition and enable the merged firm to acquire or strengthen its market power</a:t>
            </a:r>
          </a:p>
          <a:p>
            <a:pPr lvl="1"/>
            <a:r>
              <a:rPr lang="en-GB" dirty="0"/>
              <a:t>Mergers between companies at different but related stages of a supply chain may prevent competitors from accessing a market and foreclose competition</a:t>
            </a:r>
          </a:p>
          <a:p>
            <a:r>
              <a:rPr lang="en-GB" dirty="0"/>
              <a:t>NB Market studies, market investigations, sectoral inquiries, competition advocacy</a:t>
            </a:r>
          </a:p>
        </p:txBody>
      </p:sp>
    </p:spTree>
    <p:extLst>
      <p:ext uri="{BB962C8B-B14F-4D97-AF65-F5344CB8AC3E}">
        <p14:creationId xmlns:p14="http://schemas.microsoft.com/office/powerpoint/2010/main" val="317687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b="1" dirty="0"/>
              <a:t>II. MULTILATERAL PRACTICES</a:t>
            </a:r>
          </a:p>
        </p:txBody>
      </p:sp>
    </p:spTree>
    <p:extLst>
      <p:ext uri="{BB962C8B-B14F-4D97-AF65-F5344CB8AC3E}">
        <p14:creationId xmlns:p14="http://schemas.microsoft.com/office/powerpoint/2010/main" val="32358161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3128939-A83A-DD09-DC69-72464EB7D955}"/>
              </a:ext>
            </a:extLst>
          </p:cNvPr>
          <p:cNvSpPr>
            <a:spLocks noGrp="1"/>
          </p:cNvSpPr>
          <p:nvPr>
            <p:ph type="title"/>
          </p:nvPr>
        </p:nvSpPr>
        <p:spPr>
          <a:xfrm>
            <a:off x="838200" y="377000"/>
            <a:ext cx="10515600" cy="1325563"/>
          </a:xfrm>
        </p:spPr>
        <p:txBody>
          <a:bodyPr/>
          <a:lstStyle/>
          <a:p>
            <a:r>
              <a:rPr lang="en-GB" b="1" dirty="0"/>
              <a:t>1. CARTEL PROCEDURES (</a:t>
            </a:r>
            <a:r>
              <a:rPr lang="en-GB" b="1" dirty="0" err="1"/>
              <a:t>i</a:t>
            </a:r>
            <a:r>
              <a:rPr lang="en-GB" b="1" dirty="0"/>
              <a:t>)</a:t>
            </a:r>
          </a:p>
        </p:txBody>
      </p:sp>
      <p:sp>
        <p:nvSpPr>
          <p:cNvPr id="3" name="Content Placeholder 2">
            <a:extLst>
              <a:ext uri="{FF2B5EF4-FFF2-40B4-BE49-F238E27FC236}">
                <a16:creationId xmlns:a16="http://schemas.microsoft.com/office/drawing/2014/main" xmlns="" id="{59A3A8D8-AED1-9339-DF0F-A8BB20CC15EE}"/>
              </a:ext>
            </a:extLst>
          </p:cNvPr>
          <p:cNvSpPr>
            <a:spLocks noGrp="1"/>
          </p:cNvSpPr>
          <p:nvPr>
            <p:ph idx="1"/>
          </p:nvPr>
        </p:nvSpPr>
        <p:spPr/>
        <p:txBody>
          <a:bodyPr/>
          <a:lstStyle/>
          <a:p>
            <a:pPr marL="0" indent="0">
              <a:buNone/>
            </a:pPr>
            <a:r>
              <a:rPr lang="en-GB" sz="3200" b="1" dirty="0"/>
              <a:t>How to craft an effective cartel enforcement regime</a:t>
            </a:r>
          </a:p>
          <a:p>
            <a:pPr marL="0" indent="0">
              <a:buNone/>
            </a:pPr>
            <a:endParaRPr lang="en-GB" sz="800" dirty="0"/>
          </a:p>
          <a:p>
            <a:pPr fontAlgn="base"/>
            <a:r>
              <a:rPr lang="en-GB" dirty="0"/>
              <a:t>Why go after ‘hard-core’ cartels?</a:t>
            </a:r>
          </a:p>
          <a:p>
            <a:pPr fontAlgn="base"/>
            <a:r>
              <a:rPr lang="en-GB" dirty="0"/>
              <a:t>How do we detect such cartels?</a:t>
            </a:r>
          </a:p>
          <a:p>
            <a:pPr fontAlgn="base"/>
            <a:r>
              <a:rPr lang="en-GB" dirty="0"/>
              <a:t>What evidence do we need to prove the existence of such cartels?</a:t>
            </a:r>
          </a:p>
          <a:p>
            <a:pPr fontAlgn="base"/>
            <a:r>
              <a:rPr lang="en-GB" dirty="0"/>
              <a:t>What sanctions are necessary in order to deter cartels?</a:t>
            </a:r>
          </a:p>
          <a:p>
            <a:pPr fontAlgn="base"/>
            <a:r>
              <a:rPr lang="en-GB" dirty="0"/>
              <a:t>Is there a case for a settlement procedure for cartels?</a:t>
            </a:r>
          </a:p>
          <a:p>
            <a:pPr fontAlgn="base"/>
            <a:endParaRPr lang="en-GB" dirty="0"/>
          </a:p>
          <a:p>
            <a:pPr fontAlgn="base"/>
            <a:endParaRPr lang="en-GB" dirty="0"/>
          </a:p>
        </p:txBody>
      </p:sp>
    </p:spTree>
    <p:extLst>
      <p:ext uri="{BB962C8B-B14F-4D97-AF65-F5344CB8AC3E}">
        <p14:creationId xmlns:p14="http://schemas.microsoft.com/office/powerpoint/2010/main" val="21919221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35E4FCA-E9E0-E5C7-3CCC-EE697F983A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2E2687AB-C837-446E-5F7A-51E6124FD69C}"/>
              </a:ext>
            </a:extLst>
          </p:cNvPr>
          <p:cNvSpPr>
            <a:spLocks noGrp="1"/>
          </p:cNvSpPr>
          <p:nvPr>
            <p:ph type="title"/>
          </p:nvPr>
        </p:nvSpPr>
        <p:spPr/>
        <p:txBody>
          <a:bodyPr/>
          <a:lstStyle/>
          <a:p>
            <a:r>
              <a:rPr lang="en-GB" sz="3200" b="1" dirty="0">
                <a:latin typeface="+mn-lt"/>
              </a:rPr>
              <a:t>1. CARTEL PROCEDURES (ii)</a:t>
            </a:r>
            <a:endParaRPr lang="en-GB" b="1" dirty="0">
              <a:latin typeface="+mn-lt"/>
            </a:endParaRPr>
          </a:p>
        </p:txBody>
      </p:sp>
      <p:sp>
        <p:nvSpPr>
          <p:cNvPr id="3" name="Content Placeholder 2">
            <a:extLst>
              <a:ext uri="{FF2B5EF4-FFF2-40B4-BE49-F238E27FC236}">
                <a16:creationId xmlns:a16="http://schemas.microsoft.com/office/drawing/2014/main" xmlns="" id="{B61A5FD9-AFA8-9C90-A8E6-94932AA3FBC9}"/>
              </a:ext>
            </a:extLst>
          </p:cNvPr>
          <p:cNvSpPr>
            <a:spLocks noGrp="1"/>
          </p:cNvSpPr>
          <p:nvPr>
            <p:ph idx="1"/>
          </p:nvPr>
        </p:nvSpPr>
        <p:spPr/>
        <p:txBody>
          <a:bodyPr/>
          <a:lstStyle/>
          <a:p>
            <a:pPr marL="0" indent="0">
              <a:buNone/>
            </a:pPr>
            <a:r>
              <a:rPr lang="en-GB" sz="3200" b="1" dirty="0"/>
              <a:t>Atypical cartels: hub-and-spoke conspiracies</a:t>
            </a:r>
          </a:p>
          <a:p>
            <a:pPr marL="0" indent="0">
              <a:buNone/>
            </a:pPr>
            <a:endParaRPr lang="en-GB" dirty="0"/>
          </a:p>
          <a:p>
            <a:pPr marL="0" indent="0" fontAlgn="base">
              <a:buNone/>
            </a:pPr>
            <a:endParaRPr lang="en-GB" dirty="0"/>
          </a:p>
          <a:p>
            <a:pPr fontAlgn="base"/>
            <a:endParaRPr lang="en-GB" dirty="0"/>
          </a:p>
        </p:txBody>
      </p:sp>
      <p:graphicFrame>
        <p:nvGraphicFramePr>
          <p:cNvPr id="4" name="Content Placeholder 6">
            <a:extLst>
              <a:ext uri="{FF2B5EF4-FFF2-40B4-BE49-F238E27FC236}">
                <a16:creationId xmlns:a16="http://schemas.microsoft.com/office/drawing/2014/main" xmlns="" id="{5EC63584-057D-8DF0-297D-4732B6393E39}"/>
              </a:ext>
            </a:extLst>
          </p:cNvPr>
          <p:cNvGraphicFramePr>
            <a:graphicFrameLocks/>
          </p:cNvGraphicFramePr>
          <p:nvPr>
            <p:extLst>
              <p:ext uri="{D42A27DB-BD31-4B8C-83A1-F6EECF244321}">
                <p14:modId xmlns:p14="http://schemas.microsoft.com/office/powerpoint/2010/main" val="4221605482"/>
              </p:ext>
            </p:extLst>
          </p:nvPr>
        </p:nvGraphicFramePr>
        <p:xfrm>
          <a:off x="685800" y="2141538"/>
          <a:ext cx="10131425" cy="36496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204491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4C08DB6-1D86-81D0-E898-E0B06941FA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45560F80-5C44-01DF-B524-383406F26F5D}"/>
              </a:ext>
            </a:extLst>
          </p:cNvPr>
          <p:cNvSpPr>
            <a:spLocks noGrp="1"/>
          </p:cNvSpPr>
          <p:nvPr>
            <p:ph type="title"/>
          </p:nvPr>
        </p:nvSpPr>
        <p:spPr/>
        <p:txBody>
          <a:bodyPr>
            <a:normAutofit/>
          </a:bodyPr>
          <a:lstStyle/>
          <a:p>
            <a:r>
              <a:rPr lang="en-GB" sz="3200" b="1" dirty="0">
                <a:latin typeface="+mn-lt"/>
              </a:rPr>
              <a:t>1. CARTEL PROCEDURES (iii)</a:t>
            </a:r>
          </a:p>
        </p:txBody>
      </p:sp>
      <p:sp>
        <p:nvSpPr>
          <p:cNvPr id="3" name="Content Placeholder 2">
            <a:extLst>
              <a:ext uri="{FF2B5EF4-FFF2-40B4-BE49-F238E27FC236}">
                <a16:creationId xmlns:a16="http://schemas.microsoft.com/office/drawing/2014/main" xmlns="" id="{6B3CC3C2-71F0-0E7D-78F5-F78F180BE99B}"/>
              </a:ext>
            </a:extLst>
          </p:cNvPr>
          <p:cNvSpPr>
            <a:spLocks noGrp="1"/>
          </p:cNvSpPr>
          <p:nvPr>
            <p:ph idx="1"/>
          </p:nvPr>
        </p:nvSpPr>
        <p:spPr>
          <a:xfrm>
            <a:off x="838200" y="1447800"/>
            <a:ext cx="10515600" cy="4729163"/>
          </a:xfrm>
        </p:spPr>
        <p:txBody>
          <a:bodyPr>
            <a:normAutofit fontScale="77500" lnSpcReduction="20000"/>
          </a:bodyPr>
          <a:lstStyle/>
          <a:p>
            <a:pPr marL="0" indent="0">
              <a:buNone/>
            </a:pPr>
            <a:r>
              <a:rPr lang="en-GB" sz="4100" b="1" dirty="0"/>
              <a:t>Hub-and-spoke conspiracies</a:t>
            </a:r>
          </a:p>
          <a:p>
            <a:pPr marL="0" indent="0">
              <a:buNone/>
            </a:pPr>
            <a:endParaRPr lang="en-GB" sz="1000" b="1" dirty="0"/>
          </a:p>
          <a:p>
            <a:r>
              <a:rPr lang="en-GB" sz="3600" dirty="0"/>
              <a:t>UK cases tell us that a concerted practice could exist where:</a:t>
            </a:r>
          </a:p>
          <a:p>
            <a:pPr lvl="1"/>
            <a:r>
              <a:rPr lang="en-GB" sz="3400" dirty="0"/>
              <a:t>Retailer A discloses to supplier B its future </a:t>
            </a:r>
            <a:r>
              <a:rPr lang="en-GB" sz="3600" dirty="0"/>
              <a:t>pricing intentions</a:t>
            </a:r>
          </a:p>
          <a:p>
            <a:pPr lvl="1"/>
            <a:r>
              <a:rPr lang="en-GB" sz="3600" dirty="0"/>
              <a:t>Retailer A may be taken to intend that B will make use of that information to influence market conditions by passing that information to other retailers (of whom C is, or may be, one)</a:t>
            </a:r>
          </a:p>
          <a:p>
            <a:pPr lvl="1"/>
            <a:r>
              <a:rPr lang="en-GB" sz="3600" dirty="0"/>
              <a:t>Supplier B passes that information to Retailer C</a:t>
            </a:r>
          </a:p>
          <a:p>
            <a:pPr lvl="1"/>
            <a:r>
              <a:rPr lang="en-GB" sz="3600" dirty="0"/>
              <a:t>Retailer C may be taken to know the circumstances in which the information was disclosed by A to B and </a:t>
            </a:r>
          </a:p>
          <a:p>
            <a:pPr lvl="1"/>
            <a:r>
              <a:rPr lang="en-GB" sz="3600" dirty="0"/>
              <a:t>C uses the information in determining its own future pricing intentions</a:t>
            </a:r>
          </a:p>
          <a:p>
            <a:pPr fontAlgn="base"/>
            <a:r>
              <a:rPr lang="en-GB" dirty="0"/>
              <a:t>UK cases: </a:t>
            </a:r>
            <a:r>
              <a:rPr lang="en-GB" i="1" dirty="0"/>
              <a:t>JJB Sports v OFT </a:t>
            </a:r>
            <a:r>
              <a:rPr lang="en-GB" dirty="0"/>
              <a:t>(2004), </a:t>
            </a:r>
            <a:r>
              <a:rPr lang="en-GB" i="1" dirty="0"/>
              <a:t>Argos v OFT </a:t>
            </a:r>
            <a:r>
              <a:rPr lang="en-GB" dirty="0"/>
              <a:t>(2004), </a:t>
            </a:r>
            <a:r>
              <a:rPr lang="en-GB" i="1" dirty="0"/>
              <a:t>Tesco v OFT </a:t>
            </a:r>
            <a:r>
              <a:rPr lang="en-GB" dirty="0"/>
              <a:t>(2012)</a:t>
            </a:r>
          </a:p>
        </p:txBody>
      </p:sp>
    </p:spTree>
    <p:extLst>
      <p:ext uri="{BB962C8B-B14F-4D97-AF65-F5344CB8AC3E}">
        <p14:creationId xmlns:p14="http://schemas.microsoft.com/office/powerpoint/2010/main" val="21907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454044D-BF4E-A0E0-93A9-1830DA463F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299ECBA5-BCE7-DA07-4F1C-D70395A19C1D}"/>
              </a:ext>
            </a:extLst>
          </p:cNvPr>
          <p:cNvSpPr>
            <a:spLocks noGrp="1"/>
          </p:cNvSpPr>
          <p:nvPr>
            <p:ph type="title"/>
          </p:nvPr>
        </p:nvSpPr>
        <p:spPr/>
        <p:txBody>
          <a:bodyPr>
            <a:normAutofit/>
          </a:bodyPr>
          <a:lstStyle/>
          <a:p>
            <a:r>
              <a:rPr lang="en-GB" sz="3200" b="1" dirty="0">
                <a:latin typeface="+mn-lt"/>
              </a:rPr>
              <a:t>1. CARTEL PROCEDURES (iv)</a:t>
            </a:r>
          </a:p>
        </p:txBody>
      </p:sp>
      <p:sp>
        <p:nvSpPr>
          <p:cNvPr id="3" name="Content Placeholder 2">
            <a:extLst>
              <a:ext uri="{FF2B5EF4-FFF2-40B4-BE49-F238E27FC236}">
                <a16:creationId xmlns:a16="http://schemas.microsoft.com/office/drawing/2014/main" xmlns="" id="{60DAD482-5A80-18BD-39A5-F2D83CA2635E}"/>
              </a:ext>
            </a:extLst>
          </p:cNvPr>
          <p:cNvSpPr>
            <a:spLocks noGrp="1"/>
          </p:cNvSpPr>
          <p:nvPr>
            <p:ph idx="1"/>
          </p:nvPr>
        </p:nvSpPr>
        <p:spPr>
          <a:xfrm>
            <a:off x="838200" y="1447800"/>
            <a:ext cx="10515600" cy="4729163"/>
          </a:xfrm>
        </p:spPr>
        <p:txBody>
          <a:bodyPr>
            <a:normAutofit fontScale="77500" lnSpcReduction="20000"/>
          </a:bodyPr>
          <a:lstStyle/>
          <a:p>
            <a:pPr marL="0" indent="0">
              <a:buNone/>
            </a:pPr>
            <a:r>
              <a:rPr lang="en-GB" sz="3200" b="1" dirty="0"/>
              <a:t>Bid-rigging scenarios</a:t>
            </a:r>
          </a:p>
          <a:p>
            <a:pPr>
              <a:buFont typeface="Wingdings" pitchFamily="2" charset="2"/>
              <a:buChar char="Ø"/>
            </a:pPr>
            <a:r>
              <a:rPr lang="en-GB" sz="3200" dirty="0"/>
              <a:t>Surge in enforcement activity over past 20 years with respect to bid-rigging and related competition law infringements.</a:t>
            </a:r>
          </a:p>
          <a:p>
            <a:pPr>
              <a:buFont typeface="Wingdings" pitchFamily="2" charset="2"/>
              <a:buChar char="Ø"/>
            </a:pPr>
            <a:r>
              <a:rPr lang="en-GB" sz="3200" dirty="0"/>
              <a:t>Importance of government-financed infrastructure projects and services contracts has raised the level of activity. Recessionary pressures, centralisation of budgets and consolidation of projects has created “winner takes all” environments in which consortium bids are prevalent and incentives for bid-rigging are exacerbated. </a:t>
            </a:r>
          </a:p>
          <a:p>
            <a:pPr>
              <a:buFont typeface="Wingdings" pitchFamily="2" charset="2"/>
              <a:buChar char="Ø"/>
            </a:pPr>
            <a:r>
              <a:rPr lang="en-GB" sz="3200" dirty="0"/>
              <a:t>Uneasy distinction drawn in many cases between </a:t>
            </a:r>
            <a:r>
              <a:rPr lang="en-GB" sz="3200" b="1" dirty="0"/>
              <a:t>bidding consortia</a:t>
            </a:r>
            <a:r>
              <a:rPr lang="en-GB" sz="3200" dirty="0"/>
              <a:t> (assessed on the basis of its “effects” on the market and subject to exemptions) and classic </a:t>
            </a:r>
            <a:r>
              <a:rPr lang="en-GB" sz="3200" b="1" dirty="0"/>
              <a:t>bid-rigging</a:t>
            </a:r>
            <a:r>
              <a:rPr lang="en-GB" sz="3200" dirty="0"/>
              <a:t> behaviour (assessed as a clearly defined “by object” cartel offence).</a:t>
            </a:r>
          </a:p>
          <a:p>
            <a:pPr>
              <a:buFont typeface="Wingdings" pitchFamily="2" charset="2"/>
              <a:buChar char="Ø"/>
            </a:pPr>
            <a:r>
              <a:rPr lang="en-GB" sz="3200" b="1" dirty="0"/>
              <a:t>Bidding consortia </a:t>
            </a:r>
            <a:r>
              <a:rPr lang="en-GB" sz="3200" dirty="0"/>
              <a:t>often satisfy exemption criteria because they bring together complementary services and are indispensable for large-scale projects. </a:t>
            </a:r>
          </a:p>
          <a:p>
            <a:pPr>
              <a:buFont typeface="Wingdings" pitchFamily="2" charset="2"/>
              <a:buChar char="Ø"/>
            </a:pPr>
            <a:endParaRPr lang="en-GB" sz="1000" dirty="0"/>
          </a:p>
        </p:txBody>
      </p:sp>
    </p:spTree>
    <p:extLst>
      <p:ext uri="{BB962C8B-B14F-4D97-AF65-F5344CB8AC3E}">
        <p14:creationId xmlns:p14="http://schemas.microsoft.com/office/powerpoint/2010/main" val="31787525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4D0431E-F740-B0E4-1ABB-F26B28EF88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87BC601A-4064-136D-695A-920E96C10532}"/>
              </a:ext>
            </a:extLst>
          </p:cNvPr>
          <p:cNvSpPr>
            <a:spLocks noGrp="1"/>
          </p:cNvSpPr>
          <p:nvPr>
            <p:ph type="title"/>
          </p:nvPr>
        </p:nvSpPr>
        <p:spPr/>
        <p:txBody>
          <a:bodyPr>
            <a:normAutofit/>
          </a:bodyPr>
          <a:lstStyle/>
          <a:p>
            <a:r>
              <a:rPr lang="en-GB" sz="3200" b="1" dirty="0">
                <a:latin typeface="+mn-lt"/>
              </a:rPr>
              <a:t>1. CARTEL PROCEDURES (v)</a:t>
            </a:r>
          </a:p>
        </p:txBody>
      </p:sp>
      <p:sp>
        <p:nvSpPr>
          <p:cNvPr id="3" name="Content Placeholder 2">
            <a:extLst>
              <a:ext uri="{FF2B5EF4-FFF2-40B4-BE49-F238E27FC236}">
                <a16:creationId xmlns:a16="http://schemas.microsoft.com/office/drawing/2014/main" xmlns="" id="{30DF3075-6EEB-C087-CC92-B6C26462FADE}"/>
              </a:ext>
            </a:extLst>
          </p:cNvPr>
          <p:cNvSpPr>
            <a:spLocks noGrp="1"/>
          </p:cNvSpPr>
          <p:nvPr>
            <p:ph idx="1"/>
          </p:nvPr>
        </p:nvSpPr>
        <p:spPr>
          <a:xfrm>
            <a:off x="838200" y="1447800"/>
            <a:ext cx="10515600" cy="4729163"/>
          </a:xfrm>
        </p:spPr>
        <p:txBody>
          <a:bodyPr>
            <a:normAutofit fontScale="92500" lnSpcReduction="20000"/>
          </a:bodyPr>
          <a:lstStyle/>
          <a:p>
            <a:pPr marL="0" indent="0">
              <a:buNone/>
            </a:pPr>
            <a:r>
              <a:rPr lang="en-GB" sz="3200" b="1" dirty="0"/>
              <a:t>Bid-rigging scenarios </a:t>
            </a:r>
          </a:p>
          <a:p>
            <a:pPr>
              <a:buFont typeface="Wingdings" pitchFamily="2" charset="2"/>
              <a:buChar char="Ø"/>
            </a:pPr>
            <a:r>
              <a:rPr lang="en-GB" sz="3200" b="1" dirty="0"/>
              <a:t>Bid-rigging practices </a:t>
            </a:r>
            <a:r>
              <a:rPr lang="en-GB" sz="3200" dirty="0"/>
              <a:t>can take many forms, including contract allocations in multi-part contracts, selective refusals to bid, the filing of procedurally faulty bids, the filing of coordinated artificially high bids, geographic discrimination of bids, veiled sub-contracting or agency arrangements, </a:t>
            </a:r>
            <a:r>
              <a:rPr lang="en-GB" sz="3200" i="1" dirty="0"/>
              <a:t>etc</a:t>
            </a:r>
            <a:r>
              <a:rPr lang="en-GB" sz="3200" dirty="0"/>
              <a:t>. </a:t>
            </a:r>
          </a:p>
          <a:p>
            <a:pPr>
              <a:buFont typeface="Wingdings" pitchFamily="2" charset="2"/>
              <a:buChar char="Ø"/>
            </a:pPr>
            <a:r>
              <a:rPr lang="en-GB" sz="3200" dirty="0"/>
              <a:t>Exemptible bidding consortia arrangements usually </a:t>
            </a:r>
            <a:r>
              <a:rPr lang="en-GB" sz="3200" b="1" dirty="0"/>
              <a:t>lower individual entry barriers</a:t>
            </a:r>
            <a:r>
              <a:rPr lang="en-GB" sz="3200" dirty="0"/>
              <a:t> and facilitate the </a:t>
            </a:r>
            <a:r>
              <a:rPr lang="en-GB" sz="3200" b="1" dirty="0"/>
              <a:t>participation of smaller, specialist market actors</a:t>
            </a:r>
            <a:r>
              <a:rPr lang="en-GB" sz="3200" dirty="0"/>
              <a:t>.</a:t>
            </a:r>
          </a:p>
          <a:p>
            <a:pPr>
              <a:buFont typeface="Wingdings" pitchFamily="2" charset="2"/>
              <a:buChar char="Ø"/>
            </a:pPr>
            <a:r>
              <a:rPr lang="en-GB" sz="3200" dirty="0"/>
              <a:t>Relative importance of </a:t>
            </a:r>
            <a:r>
              <a:rPr lang="en-GB" sz="3200" b="1" dirty="0"/>
              <a:t>public procurement regime </a:t>
            </a:r>
            <a:r>
              <a:rPr lang="en-GB" sz="3200" dirty="0"/>
              <a:t>in place in screening many forms of illegal behaviour, including transparency and openness of bidding terms. </a:t>
            </a:r>
            <a:endParaRPr lang="en-GB" sz="1000" dirty="0"/>
          </a:p>
        </p:txBody>
      </p:sp>
    </p:spTree>
    <p:extLst>
      <p:ext uri="{BB962C8B-B14F-4D97-AF65-F5344CB8AC3E}">
        <p14:creationId xmlns:p14="http://schemas.microsoft.com/office/powerpoint/2010/main" val="9679309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0696A28-10AD-BF41-BF5E-3B74A688B9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A42A09DC-5ADB-E7C3-0B18-4BDAE0871914}"/>
              </a:ext>
            </a:extLst>
          </p:cNvPr>
          <p:cNvSpPr>
            <a:spLocks noGrp="1"/>
          </p:cNvSpPr>
          <p:nvPr>
            <p:ph type="title"/>
          </p:nvPr>
        </p:nvSpPr>
        <p:spPr/>
        <p:txBody>
          <a:bodyPr>
            <a:normAutofit/>
          </a:bodyPr>
          <a:lstStyle/>
          <a:p>
            <a:r>
              <a:rPr lang="en-GB" sz="3200" b="1" dirty="0">
                <a:latin typeface="+mn-lt"/>
              </a:rPr>
              <a:t>2. COOPERATION AGREEMENTS (i)</a:t>
            </a:r>
          </a:p>
        </p:txBody>
      </p:sp>
      <p:sp>
        <p:nvSpPr>
          <p:cNvPr id="3" name="Content Placeholder 2">
            <a:extLst>
              <a:ext uri="{FF2B5EF4-FFF2-40B4-BE49-F238E27FC236}">
                <a16:creationId xmlns:a16="http://schemas.microsoft.com/office/drawing/2014/main" xmlns="" id="{89C6FE87-8D4B-7CD4-167C-7E40F6290DAC}"/>
              </a:ext>
            </a:extLst>
          </p:cNvPr>
          <p:cNvSpPr>
            <a:spLocks noGrp="1"/>
          </p:cNvSpPr>
          <p:nvPr>
            <p:ph idx="1"/>
          </p:nvPr>
        </p:nvSpPr>
        <p:spPr>
          <a:xfrm>
            <a:off x="838200" y="1447800"/>
            <a:ext cx="10515600" cy="4729163"/>
          </a:xfrm>
        </p:spPr>
        <p:txBody>
          <a:bodyPr>
            <a:normAutofit fontScale="92500" lnSpcReduction="20000"/>
          </a:bodyPr>
          <a:lstStyle/>
          <a:p>
            <a:pPr marL="0" indent="0">
              <a:buNone/>
            </a:pPr>
            <a:r>
              <a:rPr lang="en-GB" sz="3200" b="1" dirty="0"/>
              <a:t>Common Analytical Characteristics </a:t>
            </a:r>
          </a:p>
          <a:p>
            <a:pPr marL="0" indent="0">
              <a:buNone/>
            </a:pPr>
            <a:r>
              <a:rPr lang="en-GB" sz="3200" dirty="0"/>
              <a:t>Does the cooperation being investigated affect adversely certain characteristics?</a:t>
            </a:r>
          </a:p>
          <a:p>
            <a:pPr marL="0" indent="0">
              <a:buNone/>
            </a:pPr>
            <a:r>
              <a:rPr lang="en-GB" sz="3200" b="1" dirty="0"/>
              <a:t>(O)</a:t>
            </a:r>
            <a:r>
              <a:rPr lang="en-GB" sz="3200" dirty="0" err="1"/>
              <a:t>utput</a:t>
            </a:r>
            <a:endParaRPr lang="en-GB" sz="3200" dirty="0"/>
          </a:p>
          <a:p>
            <a:pPr marL="0" indent="0">
              <a:buNone/>
            </a:pPr>
            <a:r>
              <a:rPr lang="en-GB" sz="3200" b="1" dirty="0"/>
              <a:t>(P)</a:t>
            </a:r>
            <a:r>
              <a:rPr lang="en-GB" sz="3200" dirty="0"/>
              <a:t>rice</a:t>
            </a:r>
          </a:p>
          <a:p>
            <a:pPr marL="0" indent="0">
              <a:buNone/>
            </a:pPr>
            <a:r>
              <a:rPr lang="en-GB" sz="3200" b="1" dirty="0"/>
              <a:t>(Q)</a:t>
            </a:r>
            <a:r>
              <a:rPr lang="en-GB" sz="3200" dirty="0" err="1"/>
              <a:t>uality</a:t>
            </a:r>
            <a:r>
              <a:rPr lang="en-GB" sz="3200" dirty="0"/>
              <a:t> </a:t>
            </a:r>
          </a:p>
          <a:p>
            <a:pPr marL="0" indent="0">
              <a:buNone/>
            </a:pPr>
            <a:r>
              <a:rPr lang="en-GB" sz="3200" b="1" dirty="0"/>
              <a:t>(R)</a:t>
            </a:r>
            <a:r>
              <a:rPr lang="en-GB" sz="3200" dirty="0" err="1"/>
              <a:t>ange</a:t>
            </a:r>
            <a:r>
              <a:rPr lang="en-GB" sz="3200" dirty="0"/>
              <a:t> </a:t>
            </a:r>
          </a:p>
          <a:p>
            <a:pPr marL="0" indent="0">
              <a:buNone/>
            </a:pPr>
            <a:r>
              <a:rPr lang="en-GB" sz="3200" b="1" dirty="0"/>
              <a:t>(S)</a:t>
            </a:r>
            <a:r>
              <a:rPr lang="en-GB" sz="3200" dirty="0" err="1"/>
              <a:t>ervice</a:t>
            </a:r>
            <a:r>
              <a:rPr lang="en-GB" sz="3200" dirty="0"/>
              <a:t> </a:t>
            </a:r>
          </a:p>
          <a:p>
            <a:pPr marL="0" indent="0">
              <a:buNone/>
            </a:pPr>
            <a:r>
              <a:rPr lang="en-GB" sz="3200" b="1" dirty="0"/>
              <a:t>(T)</a:t>
            </a:r>
            <a:r>
              <a:rPr lang="en-GB" sz="3200" dirty="0" err="1"/>
              <a:t>echnology</a:t>
            </a:r>
            <a:endParaRPr lang="en-GB" sz="3200" dirty="0"/>
          </a:p>
          <a:p>
            <a:pPr marL="0" indent="0">
              <a:buNone/>
            </a:pPr>
            <a:r>
              <a:rPr lang="en-GB" sz="3200" dirty="0" err="1"/>
              <a:t>Foreclos</a:t>
            </a:r>
            <a:r>
              <a:rPr lang="en-GB" sz="3200" b="1" dirty="0"/>
              <a:t>(U)</a:t>
            </a:r>
            <a:r>
              <a:rPr lang="en-GB" sz="3200" dirty="0"/>
              <a:t>re</a:t>
            </a:r>
          </a:p>
          <a:p>
            <a:pPr marL="0" indent="0">
              <a:buNone/>
            </a:pPr>
            <a:endParaRPr lang="en-GB" sz="1000" b="1" dirty="0"/>
          </a:p>
        </p:txBody>
      </p:sp>
    </p:spTree>
    <p:extLst>
      <p:ext uri="{BB962C8B-B14F-4D97-AF65-F5344CB8AC3E}">
        <p14:creationId xmlns:p14="http://schemas.microsoft.com/office/powerpoint/2010/main" val="28427037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B6AE073-6779-DF84-230B-5254E81198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DDC6A3C7-8AD1-EF94-69A9-C7190ECA04BB}"/>
              </a:ext>
            </a:extLst>
          </p:cNvPr>
          <p:cNvSpPr>
            <a:spLocks noGrp="1"/>
          </p:cNvSpPr>
          <p:nvPr>
            <p:ph type="title"/>
          </p:nvPr>
        </p:nvSpPr>
        <p:spPr/>
        <p:txBody>
          <a:bodyPr>
            <a:normAutofit/>
          </a:bodyPr>
          <a:lstStyle/>
          <a:p>
            <a:r>
              <a:rPr lang="en-GB" sz="3200" b="1" dirty="0">
                <a:latin typeface="+mn-lt"/>
              </a:rPr>
              <a:t>2. COOPERATION AGREEMENTS (ii)</a:t>
            </a:r>
          </a:p>
        </p:txBody>
      </p:sp>
      <p:sp>
        <p:nvSpPr>
          <p:cNvPr id="3" name="Content Placeholder 2">
            <a:extLst>
              <a:ext uri="{FF2B5EF4-FFF2-40B4-BE49-F238E27FC236}">
                <a16:creationId xmlns:a16="http://schemas.microsoft.com/office/drawing/2014/main" xmlns="" id="{7AD73E46-5588-E6EA-DD1B-4A595C8D5F9D}"/>
              </a:ext>
            </a:extLst>
          </p:cNvPr>
          <p:cNvSpPr>
            <a:spLocks noGrp="1"/>
          </p:cNvSpPr>
          <p:nvPr>
            <p:ph idx="1"/>
          </p:nvPr>
        </p:nvSpPr>
        <p:spPr>
          <a:xfrm>
            <a:off x="838200" y="1447800"/>
            <a:ext cx="10515600" cy="4729163"/>
          </a:xfrm>
        </p:spPr>
        <p:txBody>
          <a:bodyPr>
            <a:normAutofit/>
          </a:bodyPr>
          <a:lstStyle/>
          <a:p>
            <a:pPr marL="0" indent="0">
              <a:buNone/>
            </a:pPr>
            <a:r>
              <a:rPr lang="en-GB" sz="3200" b="1" dirty="0"/>
              <a:t>Exchanges of information</a:t>
            </a:r>
          </a:p>
          <a:p>
            <a:r>
              <a:rPr lang="en-GB" sz="3200" dirty="0"/>
              <a:t>Business people talk about a lot of things in a variety of contexts: conferences, trade associations, industry initiatives, lobbying</a:t>
            </a:r>
          </a:p>
          <a:p>
            <a:r>
              <a:rPr lang="en-GB" sz="3200" dirty="0"/>
              <a:t>Businesses also make public announcements about their products, plans, performance; earnings calls with analysts</a:t>
            </a:r>
          </a:p>
          <a:p>
            <a:r>
              <a:rPr lang="en-GB" sz="3200" dirty="0"/>
              <a:t>But some businesses also discuss their current and future pricing intentions and commercial strategy</a:t>
            </a:r>
          </a:p>
          <a:p>
            <a:pPr marL="0" indent="0">
              <a:buNone/>
            </a:pPr>
            <a:endParaRPr lang="en-GB" sz="3200" b="1" dirty="0"/>
          </a:p>
        </p:txBody>
      </p:sp>
    </p:spTree>
    <p:extLst>
      <p:ext uri="{BB962C8B-B14F-4D97-AF65-F5344CB8AC3E}">
        <p14:creationId xmlns:p14="http://schemas.microsoft.com/office/powerpoint/2010/main" val="25463735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6229F46-3C7E-48B5-B050-1A0729B780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6DC453E3-5BF8-8C2D-6429-99A7B94A316D}"/>
              </a:ext>
            </a:extLst>
          </p:cNvPr>
          <p:cNvSpPr>
            <a:spLocks noGrp="1"/>
          </p:cNvSpPr>
          <p:nvPr>
            <p:ph type="title"/>
          </p:nvPr>
        </p:nvSpPr>
        <p:spPr/>
        <p:txBody>
          <a:bodyPr>
            <a:normAutofit/>
          </a:bodyPr>
          <a:lstStyle/>
          <a:p>
            <a:r>
              <a:rPr lang="en-GB" sz="3200" b="1" dirty="0">
                <a:latin typeface="+mn-lt"/>
              </a:rPr>
              <a:t>2. COOPERATION AGREEMENTS (iii)</a:t>
            </a:r>
          </a:p>
        </p:txBody>
      </p:sp>
      <p:sp>
        <p:nvSpPr>
          <p:cNvPr id="3" name="Content Placeholder 2">
            <a:extLst>
              <a:ext uri="{FF2B5EF4-FFF2-40B4-BE49-F238E27FC236}">
                <a16:creationId xmlns:a16="http://schemas.microsoft.com/office/drawing/2014/main" xmlns="" id="{926AE301-77B9-2549-568B-78C79BE82141}"/>
              </a:ext>
            </a:extLst>
          </p:cNvPr>
          <p:cNvSpPr>
            <a:spLocks noGrp="1"/>
          </p:cNvSpPr>
          <p:nvPr>
            <p:ph idx="1"/>
          </p:nvPr>
        </p:nvSpPr>
        <p:spPr>
          <a:xfrm>
            <a:off x="838200" y="1447800"/>
            <a:ext cx="10515600" cy="4729163"/>
          </a:xfrm>
        </p:spPr>
        <p:txBody>
          <a:bodyPr>
            <a:normAutofit lnSpcReduction="10000"/>
          </a:bodyPr>
          <a:lstStyle/>
          <a:p>
            <a:pPr marL="0" indent="0">
              <a:buNone/>
            </a:pPr>
            <a:r>
              <a:rPr lang="en-GB" sz="3200" b="1" dirty="0"/>
              <a:t>Exchanges of information</a:t>
            </a:r>
          </a:p>
          <a:p>
            <a:r>
              <a:rPr lang="en-GB" sz="3200" dirty="0"/>
              <a:t>Competition law is principally concerned with exchange between competitors of </a:t>
            </a:r>
            <a:r>
              <a:rPr lang="en-GB" sz="3200" dirty="0">
                <a:solidFill>
                  <a:srgbClr val="FF0000"/>
                </a:solidFill>
              </a:rPr>
              <a:t>commercially sensitive information</a:t>
            </a:r>
          </a:p>
          <a:p>
            <a:r>
              <a:rPr lang="en-GB" sz="3200" dirty="0"/>
              <a:t>Commercially sensitive information is typically confidential and likely to influence the commercial strategy of competitors – things you don’t want your competitors to know!</a:t>
            </a:r>
          </a:p>
          <a:p>
            <a:r>
              <a:rPr lang="en-GB" sz="3200" dirty="0"/>
              <a:t>Information about the general state of an industry or relating to non-confidential technical issues, such as standards or health and safety matters are not commercially sensitive</a:t>
            </a:r>
          </a:p>
          <a:p>
            <a:pPr marL="0" indent="0">
              <a:buNone/>
            </a:pPr>
            <a:endParaRPr lang="en-GB" sz="3200" dirty="0"/>
          </a:p>
        </p:txBody>
      </p:sp>
    </p:spTree>
    <p:extLst>
      <p:ext uri="{BB962C8B-B14F-4D97-AF65-F5344CB8AC3E}">
        <p14:creationId xmlns:p14="http://schemas.microsoft.com/office/powerpoint/2010/main" val="8648109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DC76F4A-61CA-373C-57B3-54B42E0A21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0C0097AF-2D8A-2EF7-58AE-DFAD3EA30FD0}"/>
              </a:ext>
            </a:extLst>
          </p:cNvPr>
          <p:cNvSpPr>
            <a:spLocks noGrp="1"/>
          </p:cNvSpPr>
          <p:nvPr>
            <p:ph type="title"/>
          </p:nvPr>
        </p:nvSpPr>
        <p:spPr/>
        <p:txBody>
          <a:bodyPr>
            <a:normAutofit/>
          </a:bodyPr>
          <a:lstStyle/>
          <a:p>
            <a:r>
              <a:rPr lang="en-GB" sz="3200" b="1" dirty="0">
                <a:latin typeface="+mn-lt"/>
              </a:rPr>
              <a:t>2. COOPERATION AGREEMENTS (iii)</a:t>
            </a:r>
            <a:endParaRPr lang="aa-ET" sz="3200" b="1" dirty="0">
              <a:latin typeface="+mn-lt"/>
            </a:endParaRPr>
          </a:p>
        </p:txBody>
      </p:sp>
      <p:sp>
        <p:nvSpPr>
          <p:cNvPr id="4" name="TextBox 3">
            <a:extLst>
              <a:ext uri="{FF2B5EF4-FFF2-40B4-BE49-F238E27FC236}">
                <a16:creationId xmlns:a16="http://schemas.microsoft.com/office/drawing/2014/main" xmlns="" id="{701E48BC-ABAD-E9EA-9C44-6B3EFA7D9188}"/>
              </a:ext>
            </a:extLst>
          </p:cNvPr>
          <p:cNvSpPr txBox="1"/>
          <p:nvPr/>
        </p:nvSpPr>
        <p:spPr>
          <a:xfrm>
            <a:off x="923365" y="1555667"/>
            <a:ext cx="9645674" cy="4955203"/>
          </a:xfrm>
          <a:prstGeom prst="rect">
            <a:avLst/>
          </a:prstGeom>
          <a:noFill/>
        </p:spPr>
        <p:txBody>
          <a:bodyPr wrap="square">
            <a:spAutoFit/>
          </a:bodyPr>
          <a:lstStyle/>
          <a:p>
            <a:pPr marL="0" indent="0">
              <a:buNone/>
            </a:pPr>
            <a:r>
              <a:rPr lang="en-GB" sz="2800" b="1" dirty="0"/>
              <a:t>Exchanges of information: The EU </a:t>
            </a:r>
            <a:r>
              <a:rPr lang="en-GB" sz="2800" b="1" i="1" dirty="0">
                <a:solidFill>
                  <a:srgbClr val="FF0000"/>
                </a:solidFill>
              </a:rPr>
              <a:t>T-Mobile</a:t>
            </a:r>
            <a:r>
              <a:rPr lang="en-GB" sz="2800" b="1" dirty="0"/>
              <a:t> Case</a:t>
            </a:r>
          </a:p>
          <a:p>
            <a:pPr marL="0" indent="0">
              <a:buNone/>
            </a:pPr>
            <a:endParaRPr lang="en-GB" sz="800" b="1" dirty="0"/>
          </a:p>
          <a:p>
            <a:pPr marL="457200" indent="-457200">
              <a:buFont typeface="Arial" panose="020B0604020202020204" pitchFamily="34" charset="0"/>
              <a:buChar char="•"/>
            </a:pPr>
            <a:r>
              <a:rPr lang="en-GB" altLang="en-US" sz="2800" dirty="0"/>
              <a:t>5 mobile phone operators in the Netherlands held a single meeting - called for a legitimate purpose – at which they exchanged confidential information about the remuneration they would pay to their dealers</a:t>
            </a:r>
          </a:p>
          <a:p>
            <a:pPr marL="457200" indent="-457200">
              <a:buFont typeface="Arial" panose="020B0604020202020204" pitchFamily="34" charset="0"/>
              <a:buChar char="•"/>
            </a:pPr>
            <a:r>
              <a:rPr lang="en-GB" altLang="en-US" sz="2800" dirty="0"/>
              <a:t>A guiding principle is that firms determine their strategy and conduct </a:t>
            </a:r>
            <a:r>
              <a:rPr lang="en-GB" altLang="en-US" sz="2800" dirty="0">
                <a:solidFill>
                  <a:srgbClr val="FF0000"/>
                </a:solidFill>
              </a:rPr>
              <a:t>independently</a:t>
            </a:r>
          </a:p>
          <a:p>
            <a:pPr marL="457200" indent="-457200">
              <a:buFont typeface="Arial" panose="020B0604020202020204" pitchFamily="34" charset="0"/>
              <a:buChar char="•"/>
            </a:pPr>
            <a:r>
              <a:rPr lang="en-US" sz="2800" dirty="0"/>
              <a:t>Competition law prohibits a concerted practice that involves knowingly substituting practical cooperation for competition</a:t>
            </a:r>
          </a:p>
          <a:p>
            <a:pPr marL="457200" indent="-457200">
              <a:buFont typeface="Arial" panose="020B0604020202020204" pitchFamily="34" charset="0"/>
              <a:buChar char="•"/>
            </a:pPr>
            <a:r>
              <a:rPr lang="en-US" sz="2800" dirty="0"/>
              <a:t>A concerted practice can be established on the basis of just one meeting!</a:t>
            </a:r>
          </a:p>
        </p:txBody>
      </p:sp>
    </p:spTree>
    <p:extLst>
      <p:ext uri="{BB962C8B-B14F-4D97-AF65-F5344CB8AC3E}">
        <p14:creationId xmlns:p14="http://schemas.microsoft.com/office/powerpoint/2010/main" val="23308472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5E065D9-A503-6996-5409-F74746987F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69EC70AC-7D73-CFE7-6FA9-39E0904F6168}"/>
              </a:ext>
            </a:extLst>
          </p:cNvPr>
          <p:cNvSpPr>
            <a:spLocks noGrp="1"/>
          </p:cNvSpPr>
          <p:nvPr>
            <p:ph type="title"/>
          </p:nvPr>
        </p:nvSpPr>
        <p:spPr/>
        <p:txBody>
          <a:bodyPr>
            <a:normAutofit/>
          </a:bodyPr>
          <a:lstStyle/>
          <a:p>
            <a:r>
              <a:rPr lang="en-GB" sz="3200" b="1" dirty="0">
                <a:latin typeface="+mn-lt"/>
              </a:rPr>
              <a:t>2. COOPERATION AGREEMENTS (iv)</a:t>
            </a:r>
          </a:p>
        </p:txBody>
      </p:sp>
      <p:sp>
        <p:nvSpPr>
          <p:cNvPr id="3" name="Content Placeholder 2">
            <a:extLst>
              <a:ext uri="{FF2B5EF4-FFF2-40B4-BE49-F238E27FC236}">
                <a16:creationId xmlns:a16="http://schemas.microsoft.com/office/drawing/2014/main" xmlns="" id="{771F2E83-EDB1-7E52-403B-CEAD3BEA19E3}"/>
              </a:ext>
            </a:extLst>
          </p:cNvPr>
          <p:cNvSpPr>
            <a:spLocks noGrp="1"/>
          </p:cNvSpPr>
          <p:nvPr>
            <p:ph idx="1"/>
          </p:nvPr>
        </p:nvSpPr>
        <p:spPr>
          <a:xfrm>
            <a:off x="318052" y="1447800"/>
            <a:ext cx="11035748" cy="4729163"/>
          </a:xfrm>
        </p:spPr>
        <p:txBody>
          <a:bodyPr>
            <a:normAutofit fontScale="92500" lnSpcReduction="10000"/>
          </a:bodyPr>
          <a:lstStyle/>
          <a:p>
            <a:pPr marL="0" indent="0">
              <a:buNone/>
            </a:pPr>
            <a:r>
              <a:rPr lang="en-GB" sz="3200" b="1" dirty="0"/>
              <a:t>Standards-setting</a:t>
            </a:r>
          </a:p>
          <a:p>
            <a:pPr>
              <a:buFont typeface="Wingdings" pitchFamily="2" charset="2"/>
              <a:buChar char="Ø"/>
            </a:pPr>
            <a:r>
              <a:rPr lang="en-GB" sz="3200" dirty="0"/>
              <a:t>Generally viewed </a:t>
            </a:r>
            <a:r>
              <a:rPr lang="en-GB" sz="3200" b="1" dirty="0"/>
              <a:t>positively</a:t>
            </a:r>
            <a:r>
              <a:rPr lang="en-GB" sz="3200" dirty="0"/>
              <a:t> because of its potential to lower output and sales costs while enhancing product safety and interoperability capabilities    </a:t>
            </a:r>
          </a:p>
          <a:p>
            <a:pPr>
              <a:buFont typeface="Wingdings" pitchFamily="2" charset="2"/>
              <a:buChar char="Ø"/>
            </a:pPr>
            <a:r>
              <a:rPr lang="en-GB" sz="3200" dirty="0"/>
              <a:t>Viewed </a:t>
            </a:r>
            <a:r>
              <a:rPr lang="en-GB" sz="3200" b="1" dirty="0"/>
              <a:t>negatively</a:t>
            </a:r>
            <a:r>
              <a:rPr lang="en-GB" sz="3200" dirty="0"/>
              <a:t> (a “</a:t>
            </a:r>
            <a:r>
              <a:rPr lang="en-GB" sz="3200" b="1" dirty="0"/>
              <a:t>by object</a:t>
            </a:r>
            <a:r>
              <a:rPr lang="en-GB" sz="3200" dirty="0"/>
              <a:t>” offence) when it is part of a broader scheme to exclude potential competition</a:t>
            </a:r>
          </a:p>
          <a:p>
            <a:pPr>
              <a:buFont typeface="Wingdings" pitchFamily="2" charset="2"/>
              <a:buChar char="Ø"/>
            </a:pPr>
            <a:r>
              <a:rPr lang="en-GB" sz="3200" dirty="0"/>
              <a:t>A range of markets can be affected, including:</a:t>
            </a:r>
          </a:p>
          <a:p>
            <a:pPr>
              <a:buFont typeface="Courier New" panose="02070309020205020404" pitchFamily="49" charset="0"/>
              <a:buChar char="o"/>
            </a:pPr>
            <a:r>
              <a:rPr lang="en-GB" sz="3200" dirty="0"/>
              <a:t> different products;</a:t>
            </a:r>
          </a:p>
          <a:p>
            <a:pPr>
              <a:buFont typeface="Courier New" panose="02070309020205020404" pitchFamily="49" charset="0"/>
              <a:buChar char="o"/>
            </a:pPr>
            <a:r>
              <a:rPr lang="en-GB" sz="3200" dirty="0"/>
              <a:t> innovation; and</a:t>
            </a:r>
          </a:p>
          <a:p>
            <a:pPr>
              <a:buFont typeface="Courier New" panose="02070309020205020404" pitchFamily="49" charset="0"/>
              <a:buChar char="o"/>
            </a:pPr>
            <a:r>
              <a:rPr lang="en-GB" sz="3200" dirty="0"/>
              <a:t> standardisation.</a:t>
            </a:r>
          </a:p>
        </p:txBody>
      </p:sp>
    </p:spTree>
    <p:extLst>
      <p:ext uri="{BB962C8B-B14F-4D97-AF65-F5344CB8AC3E}">
        <p14:creationId xmlns:p14="http://schemas.microsoft.com/office/powerpoint/2010/main" val="17438332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40D14C9-CA98-9720-8ECF-DE6A6A9F48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523326ED-98A5-DAA6-112A-502C4F93C57F}"/>
              </a:ext>
            </a:extLst>
          </p:cNvPr>
          <p:cNvSpPr>
            <a:spLocks noGrp="1"/>
          </p:cNvSpPr>
          <p:nvPr>
            <p:ph type="title"/>
          </p:nvPr>
        </p:nvSpPr>
        <p:spPr/>
        <p:txBody>
          <a:bodyPr>
            <a:normAutofit/>
          </a:bodyPr>
          <a:lstStyle/>
          <a:p>
            <a:r>
              <a:rPr lang="en-GB" sz="3200" b="1" dirty="0">
                <a:latin typeface="+mn-lt"/>
              </a:rPr>
              <a:t>2. COOPERATION AGREEMENTS (v)</a:t>
            </a:r>
          </a:p>
        </p:txBody>
      </p:sp>
      <p:sp>
        <p:nvSpPr>
          <p:cNvPr id="3" name="Content Placeholder 2">
            <a:extLst>
              <a:ext uri="{FF2B5EF4-FFF2-40B4-BE49-F238E27FC236}">
                <a16:creationId xmlns:a16="http://schemas.microsoft.com/office/drawing/2014/main" xmlns="" id="{74826DC4-36A2-95E1-8C40-0950AAAD344E}"/>
              </a:ext>
            </a:extLst>
          </p:cNvPr>
          <p:cNvSpPr>
            <a:spLocks noGrp="1"/>
          </p:cNvSpPr>
          <p:nvPr>
            <p:ph idx="1"/>
          </p:nvPr>
        </p:nvSpPr>
        <p:spPr>
          <a:xfrm>
            <a:off x="838200" y="1447800"/>
            <a:ext cx="10515600" cy="4729163"/>
          </a:xfrm>
        </p:spPr>
        <p:txBody>
          <a:bodyPr>
            <a:normAutofit fontScale="85000" lnSpcReduction="20000"/>
          </a:bodyPr>
          <a:lstStyle/>
          <a:p>
            <a:pPr marL="0" indent="0">
              <a:buNone/>
            </a:pPr>
            <a:r>
              <a:rPr lang="en-GB" sz="3200" b="1" dirty="0"/>
              <a:t>Standards-setting   </a:t>
            </a:r>
          </a:p>
          <a:p>
            <a:pPr>
              <a:buFont typeface="Wingdings" pitchFamily="2" charset="2"/>
              <a:buChar char="Ø"/>
            </a:pPr>
            <a:r>
              <a:rPr lang="en-GB" sz="3200" dirty="0"/>
              <a:t>An anti-competitive “</a:t>
            </a:r>
            <a:r>
              <a:rPr lang="en-GB" sz="3200" b="1" dirty="0"/>
              <a:t>effects</a:t>
            </a:r>
            <a:r>
              <a:rPr lang="en-GB" sz="3200" dirty="0"/>
              <a:t>” analysis requires a review of:</a:t>
            </a:r>
          </a:p>
          <a:p>
            <a:pPr>
              <a:buFont typeface="Courier New" panose="02070309020205020404" pitchFamily="49" charset="0"/>
              <a:buChar char="o"/>
            </a:pPr>
            <a:r>
              <a:rPr lang="en-GB" sz="3200" dirty="0"/>
              <a:t> the </a:t>
            </a:r>
            <a:r>
              <a:rPr lang="en-GB" sz="3200" b="1" dirty="0"/>
              <a:t>legal and economic context</a:t>
            </a:r>
            <a:r>
              <a:rPr lang="en-GB" sz="3200" dirty="0"/>
              <a:t>;</a:t>
            </a:r>
          </a:p>
          <a:p>
            <a:pPr>
              <a:buFont typeface="Courier New" panose="02070309020205020404" pitchFamily="49" charset="0"/>
              <a:buChar char="o"/>
            </a:pPr>
            <a:r>
              <a:rPr lang="en-GB" sz="3200" dirty="0"/>
              <a:t> the extent to which </a:t>
            </a:r>
            <a:r>
              <a:rPr lang="en-GB" sz="3200" b="1" dirty="0"/>
              <a:t>markets</a:t>
            </a:r>
            <a:r>
              <a:rPr lang="en-GB" sz="3200" dirty="0"/>
              <a:t> are affected;</a:t>
            </a:r>
          </a:p>
          <a:p>
            <a:pPr>
              <a:buFont typeface="Courier New" panose="02070309020205020404" pitchFamily="49" charset="0"/>
              <a:buChar char="o"/>
            </a:pPr>
            <a:r>
              <a:rPr lang="en-GB" sz="3200" dirty="0"/>
              <a:t> the extent to which </a:t>
            </a:r>
            <a:r>
              <a:rPr lang="en-GB" sz="3200" b="1" dirty="0"/>
              <a:t>access to standards </a:t>
            </a:r>
            <a:r>
              <a:rPr lang="en-GB" sz="3200" dirty="0"/>
              <a:t>is open and non-obligatory; and</a:t>
            </a:r>
          </a:p>
          <a:p>
            <a:pPr>
              <a:buFont typeface="Courier New" panose="02070309020205020404" pitchFamily="49" charset="0"/>
              <a:buChar char="o"/>
            </a:pPr>
            <a:r>
              <a:rPr lang="en-GB" sz="3200" dirty="0"/>
              <a:t> the extent to which </a:t>
            </a:r>
            <a:r>
              <a:rPr lang="en-GB" sz="3200" b="1" dirty="0"/>
              <a:t>excluded parties </a:t>
            </a:r>
            <a:r>
              <a:rPr lang="en-GB" sz="3200" dirty="0"/>
              <a:t>can benefit from cooperation on standards.</a:t>
            </a:r>
          </a:p>
          <a:p>
            <a:pPr>
              <a:buFont typeface="Wingdings" pitchFamily="2" charset="2"/>
              <a:buChar char="Ø"/>
            </a:pPr>
            <a:r>
              <a:rPr lang="en-GB" sz="3200" dirty="0"/>
              <a:t> </a:t>
            </a:r>
            <a:r>
              <a:rPr lang="en-GB" sz="3200" b="1" dirty="0"/>
              <a:t>IP rights </a:t>
            </a:r>
            <a:r>
              <a:rPr lang="en-GB" sz="3200" dirty="0"/>
              <a:t>are often a critical element of the standardisation process, including </a:t>
            </a:r>
            <a:r>
              <a:rPr lang="en-GB" sz="3200" b="1" dirty="0"/>
              <a:t>good faith </a:t>
            </a:r>
            <a:r>
              <a:rPr lang="en-GB" sz="3200" dirty="0"/>
              <a:t>disclosures, </a:t>
            </a:r>
            <a:r>
              <a:rPr lang="en-GB" sz="3200" b="1" dirty="0"/>
              <a:t>FRAND commitments </a:t>
            </a:r>
            <a:r>
              <a:rPr lang="en-GB" sz="3200" dirty="0"/>
              <a:t>and the use of </a:t>
            </a:r>
            <a:r>
              <a:rPr lang="en-GB" sz="3200" b="1" dirty="0"/>
              <a:t>independent valuations </a:t>
            </a:r>
          </a:p>
          <a:p>
            <a:pPr>
              <a:buFont typeface="Wingdings" pitchFamily="2" charset="2"/>
              <a:buChar char="Ø"/>
            </a:pPr>
            <a:r>
              <a:rPr lang="en-GB" sz="3200" dirty="0"/>
              <a:t> </a:t>
            </a:r>
            <a:r>
              <a:rPr lang="en-GB" sz="3200" b="1" dirty="0"/>
              <a:t>Efficiencies</a:t>
            </a:r>
            <a:r>
              <a:rPr lang="en-GB" sz="3200" dirty="0"/>
              <a:t> in the standards process can be established where the restrictions are indispensable and results are open to competitors</a:t>
            </a:r>
          </a:p>
          <a:p>
            <a:pPr marL="0" indent="0">
              <a:buNone/>
            </a:pPr>
            <a:endParaRPr lang="en-GB" sz="3200" b="1" dirty="0"/>
          </a:p>
        </p:txBody>
      </p:sp>
    </p:spTree>
    <p:extLst>
      <p:ext uri="{BB962C8B-B14F-4D97-AF65-F5344CB8AC3E}">
        <p14:creationId xmlns:p14="http://schemas.microsoft.com/office/powerpoint/2010/main" val="7360446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3B06E37-ABF3-E22C-D527-4531BCA3A0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AF5760F7-DFAB-2AEB-AFE7-FFFBB4B5DF30}"/>
              </a:ext>
            </a:extLst>
          </p:cNvPr>
          <p:cNvSpPr>
            <a:spLocks noGrp="1"/>
          </p:cNvSpPr>
          <p:nvPr>
            <p:ph type="title"/>
          </p:nvPr>
        </p:nvSpPr>
        <p:spPr/>
        <p:txBody>
          <a:bodyPr>
            <a:normAutofit/>
          </a:bodyPr>
          <a:lstStyle/>
          <a:p>
            <a:r>
              <a:rPr lang="en-GB" sz="3200" b="1" dirty="0">
                <a:latin typeface="+mn-lt"/>
              </a:rPr>
              <a:t>3. VERTICAL RESTRAINTS </a:t>
            </a:r>
          </a:p>
        </p:txBody>
      </p:sp>
      <p:sp>
        <p:nvSpPr>
          <p:cNvPr id="3" name="Content Placeholder 2">
            <a:extLst>
              <a:ext uri="{FF2B5EF4-FFF2-40B4-BE49-F238E27FC236}">
                <a16:creationId xmlns:a16="http://schemas.microsoft.com/office/drawing/2014/main" xmlns="" id="{277B22B2-FA6D-6B78-2E20-83B5C8760E47}"/>
              </a:ext>
            </a:extLst>
          </p:cNvPr>
          <p:cNvSpPr>
            <a:spLocks noGrp="1"/>
          </p:cNvSpPr>
          <p:nvPr>
            <p:ph idx="1"/>
          </p:nvPr>
        </p:nvSpPr>
        <p:spPr>
          <a:xfrm>
            <a:off x="838200" y="1447800"/>
            <a:ext cx="10515600" cy="4729163"/>
          </a:xfrm>
        </p:spPr>
        <p:txBody>
          <a:bodyPr>
            <a:normAutofit fontScale="92500" lnSpcReduction="20000"/>
          </a:bodyPr>
          <a:lstStyle/>
          <a:p>
            <a:pPr>
              <a:buFont typeface="Wingdings" pitchFamily="2" charset="2"/>
              <a:buChar char="Ø"/>
            </a:pPr>
            <a:r>
              <a:rPr lang="en-GB" sz="3200" dirty="0"/>
              <a:t>The desire to promote competition in the vertical supply chain reflects the policy desire to promote </a:t>
            </a:r>
            <a:r>
              <a:rPr lang="en-GB" sz="3200" b="1" dirty="0"/>
              <a:t>intra-brand competition</a:t>
            </a:r>
            <a:r>
              <a:rPr lang="en-GB" sz="3200" dirty="0"/>
              <a:t>, in addition to traditional concerns about </a:t>
            </a:r>
            <a:r>
              <a:rPr lang="en-GB" sz="3200" b="1" dirty="0"/>
              <a:t>inter-brand competition</a:t>
            </a:r>
            <a:r>
              <a:rPr lang="en-GB" sz="3200" dirty="0"/>
              <a:t>, especially where suppliers with market power create exclusive distribution arrangements with wholesalers or retailers  </a:t>
            </a:r>
          </a:p>
          <a:p>
            <a:pPr>
              <a:buFont typeface="Wingdings" pitchFamily="2" charset="2"/>
              <a:buChar char="Ø"/>
            </a:pPr>
            <a:r>
              <a:rPr lang="en-GB" sz="3200" b="1" dirty="0"/>
              <a:t>Resale Price Maintenance (RPM) </a:t>
            </a:r>
            <a:r>
              <a:rPr lang="en-GB" sz="3200" dirty="0"/>
              <a:t>obligations are treated as “</a:t>
            </a:r>
            <a:r>
              <a:rPr lang="en-GB" sz="3200" b="1" dirty="0"/>
              <a:t>by object</a:t>
            </a:r>
            <a:r>
              <a:rPr lang="en-GB" sz="3200" dirty="0"/>
              <a:t>” competition law offences, subject to very limited exceptions, while truly </a:t>
            </a:r>
            <a:r>
              <a:rPr lang="en-GB" sz="3200" b="1" dirty="0"/>
              <a:t>recommended prices </a:t>
            </a:r>
            <a:r>
              <a:rPr lang="en-GB" sz="3200" dirty="0"/>
              <a:t>are not seen as problematic  </a:t>
            </a:r>
          </a:p>
          <a:p>
            <a:pPr>
              <a:buFont typeface="Wingdings" pitchFamily="2" charset="2"/>
              <a:buChar char="Ø"/>
            </a:pPr>
            <a:r>
              <a:rPr lang="en-GB" sz="3200" b="1" dirty="0"/>
              <a:t>Territorial restrictions </a:t>
            </a:r>
            <a:r>
              <a:rPr lang="en-GB" sz="3200" dirty="0"/>
              <a:t>and restrictions on addressable customers are not universally condemned across the world, but play an important role in the EU as part of the market integration goal</a:t>
            </a:r>
          </a:p>
        </p:txBody>
      </p:sp>
    </p:spTree>
    <p:extLst>
      <p:ext uri="{BB962C8B-B14F-4D97-AF65-F5344CB8AC3E}">
        <p14:creationId xmlns:p14="http://schemas.microsoft.com/office/powerpoint/2010/main" val="35450412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b="1" dirty="0"/>
              <a:t>III. UNILATERAL PRACTICES</a:t>
            </a:r>
          </a:p>
        </p:txBody>
      </p:sp>
    </p:spTree>
    <p:extLst>
      <p:ext uri="{BB962C8B-B14F-4D97-AF65-F5344CB8AC3E}">
        <p14:creationId xmlns:p14="http://schemas.microsoft.com/office/powerpoint/2010/main" val="39849329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FA1EF2F-C8AF-00B9-212B-4B79C37EB0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8DD31305-EC8B-8BC2-01E6-2303BE358F98}"/>
              </a:ext>
            </a:extLst>
          </p:cNvPr>
          <p:cNvSpPr>
            <a:spLocks noGrp="1"/>
          </p:cNvSpPr>
          <p:nvPr>
            <p:ph type="title"/>
          </p:nvPr>
        </p:nvSpPr>
        <p:spPr/>
        <p:txBody>
          <a:bodyPr/>
          <a:lstStyle/>
          <a:p>
            <a:r>
              <a:rPr lang="en-GB" b="1" dirty="0"/>
              <a:t>III. UNILATERAL PRACTICES (</a:t>
            </a:r>
            <a:r>
              <a:rPr lang="en-GB" b="1" dirty="0" err="1"/>
              <a:t>i</a:t>
            </a:r>
            <a:r>
              <a:rPr lang="en-GB" b="1" dirty="0"/>
              <a:t>)</a:t>
            </a:r>
          </a:p>
        </p:txBody>
      </p:sp>
      <p:sp>
        <p:nvSpPr>
          <p:cNvPr id="3" name="Content Placeholder 2">
            <a:extLst>
              <a:ext uri="{FF2B5EF4-FFF2-40B4-BE49-F238E27FC236}">
                <a16:creationId xmlns:a16="http://schemas.microsoft.com/office/drawing/2014/main" xmlns="" id="{FB7E9465-9E25-5769-E584-4582F2D56897}"/>
              </a:ext>
            </a:extLst>
          </p:cNvPr>
          <p:cNvSpPr>
            <a:spLocks noGrp="1"/>
          </p:cNvSpPr>
          <p:nvPr>
            <p:ph idx="1"/>
          </p:nvPr>
        </p:nvSpPr>
        <p:spPr>
          <a:xfrm>
            <a:off x="490330" y="1497496"/>
            <a:ext cx="11277600" cy="4679467"/>
          </a:xfrm>
        </p:spPr>
        <p:txBody>
          <a:bodyPr>
            <a:normAutofit fontScale="70000" lnSpcReduction="20000"/>
          </a:bodyPr>
          <a:lstStyle/>
          <a:p>
            <a:pPr marL="514350" indent="-514350">
              <a:buAutoNum type="arabicPeriod"/>
            </a:pPr>
            <a:r>
              <a:rPr lang="en-GB" sz="3200" b="1" dirty="0"/>
              <a:t>MARKET DEFINITION &amp; MARKET POWER</a:t>
            </a:r>
          </a:p>
          <a:p>
            <a:pPr>
              <a:buFont typeface="Wingdings" pitchFamily="2" charset="2"/>
              <a:buChar char="Ø"/>
            </a:pPr>
            <a:r>
              <a:rPr lang="en-GB" sz="3200" dirty="0"/>
              <a:t>The first analytical step in the assessment of an abusive commercial practice is the identification of the relevant product and geographic markets affected by the practice, as a prelude to determining whether an entity holds market power (or “dominance”) in that market</a:t>
            </a:r>
          </a:p>
          <a:p>
            <a:pPr>
              <a:buFont typeface="Wingdings" pitchFamily="2" charset="2"/>
              <a:buChar char="Ø"/>
            </a:pPr>
            <a:r>
              <a:rPr lang="en-GB" sz="3200" dirty="0"/>
              <a:t>The traditional basis for defining a relevant product market is the concept of “substitutability”, usually  seen from a customer demand perspective. In certain cases, the ability of producers to shift production quickly to alternative products can also determine the scope of a product market (“supply side” substitution) </a:t>
            </a:r>
          </a:p>
          <a:p>
            <a:pPr>
              <a:buFont typeface="Wingdings" pitchFamily="2" charset="2"/>
              <a:buChar char="Ø"/>
            </a:pPr>
            <a:r>
              <a:rPr lang="en-GB" sz="3200" dirty="0"/>
              <a:t>Where feasible, Competition Authorities deploy the “Hypothetical Monopolist Test” to define a relevant product market. In a digital world, that test needs to be modified to take into account the quality dimension where the monetary value of goods  is not evident  </a:t>
            </a:r>
          </a:p>
          <a:p>
            <a:pPr>
              <a:buFont typeface="Wingdings" pitchFamily="2" charset="2"/>
              <a:buChar char="Ø"/>
            </a:pPr>
            <a:r>
              <a:rPr lang="en-GB" sz="3200" dirty="0"/>
              <a:t>The geographic dimension of a relevant market is determined by whether the “underlying conditions of competition are sufficiently homogeneous”, which can be influenced by a range of factors in any given case, including: licensing; customer location; trade barriers. </a:t>
            </a:r>
          </a:p>
          <a:p>
            <a:pPr>
              <a:buFont typeface="Wingdings" pitchFamily="2" charset="2"/>
              <a:buChar char="Ø"/>
            </a:pPr>
            <a:r>
              <a:rPr lang="en-GB" sz="3200" dirty="0"/>
              <a:t>It is always wise to define markets by relevance to different criteria and to compare the results </a:t>
            </a:r>
            <a:endParaRPr lang="en-GB" dirty="0"/>
          </a:p>
          <a:p>
            <a:pPr lvl="1" fontAlgn="base"/>
            <a:endParaRPr lang="en-GB" dirty="0"/>
          </a:p>
        </p:txBody>
      </p:sp>
    </p:spTree>
    <p:extLst>
      <p:ext uri="{BB962C8B-B14F-4D97-AF65-F5344CB8AC3E}">
        <p14:creationId xmlns:p14="http://schemas.microsoft.com/office/powerpoint/2010/main" val="25216503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02F44B8-BBCD-033D-2FFF-8580AE3124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BBCE5635-7D86-1BDF-62B2-FFB34EA8C2AA}"/>
              </a:ext>
            </a:extLst>
          </p:cNvPr>
          <p:cNvSpPr>
            <a:spLocks noGrp="1"/>
          </p:cNvSpPr>
          <p:nvPr>
            <p:ph type="title"/>
          </p:nvPr>
        </p:nvSpPr>
        <p:spPr/>
        <p:txBody>
          <a:bodyPr/>
          <a:lstStyle/>
          <a:p>
            <a:r>
              <a:rPr lang="en-GB" b="1" dirty="0"/>
              <a:t>III. UNILATERAL PRACTICES (ii) </a:t>
            </a:r>
          </a:p>
        </p:txBody>
      </p:sp>
      <p:sp>
        <p:nvSpPr>
          <p:cNvPr id="3" name="Content Placeholder 2">
            <a:extLst>
              <a:ext uri="{FF2B5EF4-FFF2-40B4-BE49-F238E27FC236}">
                <a16:creationId xmlns:a16="http://schemas.microsoft.com/office/drawing/2014/main" xmlns="" id="{FBF852C6-CAB9-2EFB-B76E-607D9DD5A039}"/>
              </a:ext>
            </a:extLst>
          </p:cNvPr>
          <p:cNvSpPr>
            <a:spLocks noGrp="1"/>
          </p:cNvSpPr>
          <p:nvPr>
            <p:ph idx="1"/>
          </p:nvPr>
        </p:nvSpPr>
        <p:spPr>
          <a:xfrm>
            <a:off x="490330" y="1497496"/>
            <a:ext cx="11277600" cy="4679467"/>
          </a:xfrm>
        </p:spPr>
        <p:txBody>
          <a:bodyPr>
            <a:normAutofit fontScale="70000" lnSpcReduction="20000"/>
          </a:bodyPr>
          <a:lstStyle/>
          <a:p>
            <a:pPr marL="514350" indent="-514350">
              <a:buAutoNum type="arabicPeriod"/>
            </a:pPr>
            <a:r>
              <a:rPr lang="en-GB" sz="3200" b="1" dirty="0"/>
              <a:t>MARKET DEFINITION &amp; MARKET POWER</a:t>
            </a:r>
          </a:p>
          <a:p>
            <a:pPr>
              <a:buFont typeface="Wingdings" pitchFamily="2" charset="2"/>
              <a:buChar char="Ø"/>
            </a:pPr>
            <a:r>
              <a:rPr lang="en-GB" sz="3200" dirty="0"/>
              <a:t> Many of the more complex issues affecting market definition focus on high tech industries, including:</a:t>
            </a:r>
          </a:p>
          <a:p>
            <a:pPr>
              <a:buFont typeface="Courier New" panose="02070309020205020404" pitchFamily="49" charset="0"/>
              <a:buChar char="o"/>
            </a:pPr>
            <a:r>
              <a:rPr lang="en-GB" sz="3200" dirty="0"/>
              <a:t>the impact of bundling practices;</a:t>
            </a:r>
          </a:p>
          <a:p>
            <a:pPr>
              <a:buFont typeface="Courier New" panose="02070309020205020404" pitchFamily="49" charset="0"/>
              <a:buChar char="o"/>
            </a:pPr>
            <a:r>
              <a:rPr lang="en-GB" sz="3200" dirty="0"/>
              <a:t>the role of “aftermarkets”;</a:t>
            </a:r>
          </a:p>
          <a:p>
            <a:pPr>
              <a:buFont typeface="Courier New" panose="02070309020205020404" pitchFamily="49" charset="0"/>
              <a:buChar char="o"/>
            </a:pPr>
            <a:r>
              <a:rPr lang="en-GB" sz="3200" dirty="0"/>
              <a:t>the treatment of multi-sided platforms;</a:t>
            </a:r>
          </a:p>
          <a:p>
            <a:pPr>
              <a:buFont typeface="Courier New" panose="02070309020205020404" pitchFamily="49" charset="0"/>
              <a:buChar char="o"/>
            </a:pPr>
            <a:r>
              <a:rPr lang="en-GB" sz="3200" dirty="0"/>
              <a:t>the relevance of the concept of “digital ecosystems”;</a:t>
            </a:r>
          </a:p>
          <a:p>
            <a:pPr>
              <a:buFont typeface="Courier New" panose="02070309020205020404" pitchFamily="49" charset="0"/>
              <a:buChar char="o"/>
            </a:pPr>
            <a:r>
              <a:rPr lang="en-GB" sz="3200" dirty="0"/>
              <a:t>the impact of product differentiation and price discrimination; and</a:t>
            </a:r>
          </a:p>
          <a:p>
            <a:pPr>
              <a:buFont typeface="Courier New" panose="02070309020205020404" pitchFamily="49" charset="0"/>
              <a:buChar char="o"/>
            </a:pPr>
            <a:r>
              <a:rPr lang="en-GB" sz="3200" dirty="0"/>
              <a:t>the importance of R&amp;D in any given sector. </a:t>
            </a:r>
          </a:p>
          <a:p>
            <a:pPr>
              <a:buFont typeface="Wingdings" pitchFamily="2" charset="2"/>
              <a:buChar char="Ø"/>
            </a:pPr>
            <a:r>
              <a:rPr lang="en-GB" sz="3200" dirty="0"/>
              <a:t>The second analytical step before proceeding to assess whether a commercial practice is abusive is to determine market power</a:t>
            </a:r>
          </a:p>
          <a:p>
            <a:pPr>
              <a:buFont typeface="Wingdings" pitchFamily="2" charset="2"/>
              <a:buChar char="Ø"/>
            </a:pPr>
            <a:r>
              <a:rPr lang="en-GB" sz="3200" dirty="0"/>
              <a:t>The existence of market power should always involve a comprehensive analysis of all relevant economic factors, but will always attach great significance to very high market shares</a:t>
            </a:r>
          </a:p>
          <a:p>
            <a:pPr marL="0" indent="0">
              <a:buNone/>
            </a:pPr>
            <a:endParaRPr lang="en-GB" dirty="0"/>
          </a:p>
          <a:p>
            <a:pPr lvl="1" fontAlgn="base"/>
            <a:endParaRPr lang="en-GB" dirty="0"/>
          </a:p>
        </p:txBody>
      </p:sp>
    </p:spTree>
    <p:extLst>
      <p:ext uri="{BB962C8B-B14F-4D97-AF65-F5344CB8AC3E}">
        <p14:creationId xmlns:p14="http://schemas.microsoft.com/office/powerpoint/2010/main" val="14790218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C55B176-DAC8-CD67-01BE-8EE1011A9C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919E58EE-E1B4-25F8-77E7-2286E9886023}"/>
              </a:ext>
            </a:extLst>
          </p:cNvPr>
          <p:cNvSpPr>
            <a:spLocks noGrp="1"/>
          </p:cNvSpPr>
          <p:nvPr>
            <p:ph type="title"/>
          </p:nvPr>
        </p:nvSpPr>
        <p:spPr/>
        <p:txBody>
          <a:bodyPr/>
          <a:lstStyle/>
          <a:p>
            <a:r>
              <a:rPr lang="en-GB" b="1" dirty="0"/>
              <a:t>III. UNILATERAL PRACTICES (iii) </a:t>
            </a:r>
          </a:p>
        </p:txBody>
      </p:sp>
      <p:sp>
        <p:nvSpPr>
          <p:cNvPr id="3" name="Content Placeholder 2">
            <a:extLst>
              <a:ext uri="{FF2B5EF4-FFF2-40B4-BE49-F238E27FC236}">
                <a16:creationId xmlns:a16="http://schemas.microsoft.com/office/drawing/2014/main" xmlns="" id="{121E24BE-F73B-CA1B-FE2A-E135E5C0E931}"/>
              </a:ext>
            </a:extLst>
          </p:cNvPr>
          <p:cNvSpPr>
            <a:spLocks noGrp="1"/>
          </p:cNvSpPr>
          <p:nvPr>
            <p:ph idx="1"/>
          </p:nvPr>
        </p:nvSpPr>
        <p:spPr/>
        <p:txBody>
          <a:bodyPr>
            <a:normAutofit/>
          </a:bodyPr>
          <a:lstStyle/>
          <a:p>
            <a:pPr marL="0" indent="0">
              <a:buNone/>
            </a:pPr>
            <a:r>
              <a:rPr lang="en-GB" sz="3200" b="1" dirty="0"/>
              <a:t>2. POTENTIAL DIGITAL SECTOR ABUSES</a:t>
            </a:r>
          </a:p>
          <a:p>
            <a:pPr marL="0" indent="0">
              <a:buNone/>
            </a:pPr>
            <a:endParaRPr lang="en-GB" sz="800" dirty="0"/>
          </a:p>
          <a:p>
            <a:pPr fontAlgn="base"/>
            <a:r>
              <a:rPr lang="en-GB" dirty="0"/>
              <a:t>Which entities are we talking about?</a:t>
            </a:r>
          </a:p>
          <a:p>
            <a:pPr fontAlgn="base"/>
            <a:r>
              <a:rPr lang="en-GB" dirty="0"/>
              <a:t>Why are digital platforms susceptible to abuses of market power?</a:t>
            </a:r>
          </a:p>
          <a:p>
            <a:pPr lvl="1" fontAlgn="base"/>
            <a:r>
              <a:rPr lang="en-GB" dirty="0"/>
              <a:t>Direct and indirect ‘network effects’</a:t>
            </a:r>
          </a:p>
          <a:p>
            <a:pPr lvl="1"/>
            <a:r>
              <a:rPr lang="en-GB" dirty="0"/>
              <a:t>Incumbency advantage in terms of data, scale, name recognition</a:t>
            </a:r>
          </a:p>
          <a:p>
            <a:pPr lvl="1"/>
            <a:r>
              <a:rPr lang="en-GB" dirty="0"/>
              <a:t>Users tend to ‘single-home’</a:t>
            </a:r>
          </a:p>
          <a:p>
            <a:pPr lvl="1"/>
            <a:r>
              <a:rPr lang="en-GB" dirty="0"/>
              <a:t>High barriers to entry, expansion and exit</a:t>
            </a:r>
          </a:p>
          <a:p>
            <a:r>
              <a:rPr lang="en-GB" dirty="0"/>
              <a:t>What are the main competition concerns?</a:t>
            </a:r>
          </a:p>
          <a:p>
            <a:pPr marL="0" indent="0">
              <a:buNone/>
            </a:pPr>
            <a:endParaRPr lang="en-GB" dirty="0"/>
          </a:p>
          <a:p>
            <a:pPr lvl="1" fontAlgn="base"/>
            <a:endParaRPr lang="en-GB" dirty="0"/>
          </a:p>
        </p:txBody>
      </p:sp>
    </p:spTree>
    <p:extLst>
      <p:ext uri="{BB962C8B-B14F-4D97-AF65-F5344CB8AC3E}">
        <p14:creationId xmlns:p14="http://schemas.microsoft.com/office/powerpoint/2010/main" val="16151019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6109436-0927-CA37-D788-090DE62EA0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88722869-260E-9BB3-54C4-1C04F6A6A558}"/>
              </a:ext>
            </a:extLst>
          </p:cNvPr>
          <p:cNvSpPr>
            <a:spLocks noGrp="1"/>
          </p:cNvSpPr>
          <p:nvPr>
            <p:ph type="title"/>
          </p:nvPr>
        </p:nvSpPr>
        <p:spPr/>
        <p:txBody>
          <a:bodyPr/>
          <a:lstStyle/>
          <a:p>
            <a:r>
              <a:rPr lang="en-GB" b="1" dirty="0"/>
              <a:t>III. UNILATERAL PRACTICES (iv) </a:t>
            </a:r>
          </a:p>
        </p:txBody>
      </p:sp>
      <p:sp>
        <p:nvSpPr>
          <p:cNvPr id="3" name="Content Placeholder 2">
            <a:extLst>
              <a:ext uri="{FF2B5EF4-FFF2-40B4-BE49-F238E27FC236}">
                <a16:creationId xmlns:a16="http://schemas.microsoft.com/office/drawing/2014/main" xmlns="" id="{56AEF2BB-A76F-D298-B26D-0A873CBF6E37}"/>
              </a:ext>
            </a:extLst>
          </p:cNvPr>
          <p:cNvSpPr>
            <a:spLocks noGrp="1"/>
          </p:cNvSpPr>
          <p:nvPr>
            <p:ph idx="1"/>
          </p:nvPr>
        </p:nvSpPr>
        <p:spPr/>
        <p:txBody>
          <a:bodyPr>
            <a:normAutofit/>
          </a:bodyPr>
          <a:lstStyle/>
          <a:p>
            <a:pPr marL="0" indent="0">
              <a:buNone/>
            </a:pPr>
            <a:r>
              <a:rPr lang="en-GB" sz="3200" b="1" dirty="0"/>
              <a:t>Margin Squeezes</a:t>
            </a:r>
            <a:endParaRPr lang="en-GB" sz="800" dirty="0"/>
          </a:p>
          <a:p>
            <a:pPr marL="0" indent="0">
              <a:buNone/>
            </a:pPr>
            <a:endParaRPr lang="en-GB" dirty="0"/>
          </a:p>
          <a:p>
            <a:pPr marL="0" indent="0">
              <a:buNone/>
            </a:pPr>
            <a:r>
              <a:rPr lang="en-GB" dirty="0"/>
              <a:t>A vertically integrated firm holding a</a:t>
            </a:r>
          </a:p>
          <a:p>
            <a:pPr marL="0" indent="0">
              <a:buNone/>
            </a:pPr>
            <a:r>
              <a:rPr lang="en-GB" dirty="0"/>
              <a:t>dominant position in the upstream </a:t>
            </a:r>
          </a:p>
          <a:p>
            <a:pPr marL="0" indent="0">
              <a:buNone/>
            </a:pPr>
            <a:r>
              <a:rPr lang="en-GB" dirty="0"/>
              <a:t>market (firm 1) prevents its downstream</a:t>
            </a:r>
          </a:p>
          <a:p>
            <a:pPr marL="0" indent="0">
              <a:buNone/>
            </a:pPr>
            <a:r>
              <a:rPr lang="en-GB" dirty="0"/>
              <a:t>competitor (firm 2) from achieving an</a:t>
            </a:r>
          </a:p>
          <a:p>
            <a:pPr marL="0" indent="0">
              <a:buNone/>
            </a:pPr>
            <a:r>
              <a:rPr lang="en-GB" dirty="0"/>
              <a:t>economically viable price-cost margin</a:t>
            </a:r>
          </a:p>
          <a:p>
            <a:pPr marL="0" indent="0">
              <a:buNone/>
            </a:pPr>
            <a:endParaRPr lang="en-GB" dirty="0"/>
          </a:p>
        </p:txBody>
      </p:sp>
      <p:pic>
        <p:nvPicPr>
          <p:cNvPr id="4" name="Picture 3"/>
          <p:cNvPicPr>
            <a:picLocks noChangeAspect="1"/>
          </p:cNvPicPr>
          <p:nvPr/>
        </p:nvPicPr>
        <p:blipFill>
          <a:blip r:embed="rId2"/>
          <a:stretch>
            <a:fillRect/>
          </a:stretch>
        </p:blipFill>
        <p:spPr>
          <a:xfrm>
            <a:off x="6991424" y="2413148"/>
            <a:ext cx="3444539" cy="3176291"/>
          </a:xfrm>
          <a:prstGeom prst="rect">
            <a:avLst/>
          </a:prstGeom>
        </p:spPr>
      </p:pic>
    </p:spTree>
    <p:extLst>
      <p:ext uri="{BB962C8B-B14F-4D97-AF65-F5344CB8AC3E}">
        <p14:creationId xmlns:p14="http://schemas.microsoft.com/office/powerpoint/2010/main" val="32440627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4C1177E-743E-74AC-6895-0688AE0109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7DE44354-A8C9-4B93-3D0D-35E2D7FA39AD}"/>
              </a:ext>
            </a:extLst>
          </p:cNvPr>
          <p:cNvSpPr>
            <a:spLocks noGrp="1"/>
          </p:cNvSpPr>
          <p:nvPr>
            <p:ph type="title"/>
          </p:nvPr>
        </p:nvSpPr>
        <p:spPr>
          <a:xfrm>
            <a:off x="838200" y="391629"/>
            <a:ext cx="10515600" cy="1325563"/>
          </a:xfrm>
        </p:spPr>
        <p:txBody>
          <a:bodyPr/>
          <a:lstStyle/>
          <a:p>
            <a:r>
              <a:rPr lang="en-GB" b="1" dirty="0"/>
              <a:t>III. UNILATERAL PRACTICES (v) </a:t>
            </a:r>
          </a:p>
        </p:txBody>
      </p:sp>
      <p:sp>
        <p:nvSpPr>
          <p:cNvPr id="3" name="Content Placeholder 2">
            <a:extLst>
              <a:ext uri="{FF2B5EF4-FFF2-40B4-BE49-F238E27FC236}">
                <a16:creationId xmlns:a16="http://schemas.microsoft.com/office/drawing/2014/main" xmlns="" id="{229FACA5-E40A-C35A-E881-CDAB41C51AFC}"/>
              </a:ext>
            </a:extLst>
          </p:cNvPr>
          <p:cNvSpPr>
            <a:spLocks noGrp="1"/>
          </p:cNvSpPr>
          <p:nvPr>
            <p:ph idx="1"/>
          </p:nvPr>
        </p:nvSpPr>
        <p:spPr/>
        <p:txBody>
          <a:bodyPr>
            <a:normAutofit lnSpcReduction="10000"/>
          </a:bodyPr>
          <a:lstStyle/>
          <a:p>
            <a:pPr marL="0" indent="0">
              <a:buNone/>
            </a:pPr>
            <a:r>
              <a:rPr lang="en-GB" sz="3200" b="1" dirty="0"/>
              <a:t>Margin Squeezes</a:t>
            </a:r>
          </a:p>
          <a:p>
            <a:r>
              <a:rPr lang="en-GB" sz="3200" dirty="0"/>
              <a:t>Firm 1 could </a:t>
            </a:r>
            <a:r>
              <a:rPr lang="en-GB" sz="3200" dirty="0">
                <a:solidFill>
                  <a:srgbClr val="FF0000"/>
                </a:solidFill>
              </a:rPr>
              <a:t>refuse to supply </a:t>
            </a:r>
            <a:r>
              <a:rPr lang="en-GB" sz="3200" dirty="0"/>
              <a:t>product U to firm 2</a:t>
            </a:r>
          </a:p>
          <a:p>
            <a:r>
              <a:rPr lang="en-GB" sz="3200" dirty="0"/>
              <a:t>Firm 1 could charge an </a:t>
            </a:r>
            <a:r>
              <a:rPr lang="en-GB" sz="3200" dirty="0">
                <a:solidFill>
                  <a:srgbClr val="FF0000"/>
                </a:solidFill>
              </a:rPr>
              <a:t>excessive price </a:t>
            </a:r>
            <a:r>
              <a:rPr lang="en-GB" sz="3200" dirty="0"/>
              <a:t>for product U to firm 2</a:t>
            </a:r>
          </a:p>
          <a:p>
            <a:r>
              <a:rPr lang="en-GB" sz="3200" dirty="0"/>
              <a:t>Firm 1 could charge a </a:t>
            </a:r>
            <a:r>
              <a:rPr lang="en-GB" sz="3200" dirty="0">
                <a:solidFill>
                  <a:srgbClr val="FF0000"/>
                </a:solidFill>
              </a:rPr>
              <a:t>predatory price </a:t>
            </a:r>
            <a:r>
              <a:rPr lang="en-GB" sz="3200" dirty="0"/>
              <a:t>for product D1</a:t>
            </a:r>
          </a:p>
          <a:p>
            <a:r>
              <a:rPr lang="en-GB" sz="3200" dirty="0"/>
              <a:t>But Firm 1 could also engage in a </a:t>
            </a:r>
            <a:r>
              <a:rPr lang="en-GB" sz="3200" dirty="0">
                <a:solidFill>
                  <a:srgbClr val="FF0000"/>
                </a:solidFill>
              </a:rPr>
              <a:t>margin squeeze</a:t>
            </a:r>
          </a:p>
          <a:p>
            <a:pPr lvl="1"/>
            <a:r>
              <a:rPr lang="en-GB" sz="2800" dirty="0"/>
              <a:t>It may charge a price for product U on the upstream market which compared to the price it charges for product D1 on the downstream market does not allow an equally efficient competitor to trade profitably in the downstream market on a lasting basis</a:t>
            </a:r>
            <a:endParaRPr lang="en-GB" dirty="0"/>
          </a:p>
          <a:p>
            <a:pPr lvl="1" fontAlgn="base"/>
            <a:endParaRPr lang="en-GB" dirty="0"/>
          </a:p>
        </p:txBody>
      </p:sp>
    </p:spTree>
    <p:extLst>
      <p:ext uri="{BB962C8B-B14F-4D97-AF65-F5344CB8AC3E}">
        <p14:creationId xmlns:p14="http://schemas.microsoft.com/office/powerpoint/2010/main" val="14198309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1C82F6E-3B2B-4335-5910-F5DE801EF9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4E294162-5262-3C46-FB87-D4D754689825}"/>
              </a:ext>
            </a:extLst>
          </p:cNvPr>
          <p:cNvSpPr>
            <a:spLocks noGrp="1"/>
          </p:cNvSpPr>
          <p:nvPr>
            <p:ph type="title"/>
          </p:nvPr>
        </p:nvSpPr>
        <p:spPr/>
        <p:txBody>
          <a:bodyPr/>
          <a:lstStyle/>
          <a:p>
            <a:r>
              <a:rPr lang="en-GB" b="1" dirty="0"/>
              <a:t>III. UNILATERAL PRACTICES (vi) </a:t>
            </a:r>
          </a:p>
        </p:txBody>
      </p:sp>
      <p:sp>
        <p:nvSpPr>
          <p:cNvPr id="3" name="Content Placeholder 2">
            <a:extLst>
              <a:ext uri="{FF2B5EF4-FFF2-40B4-BE49-F238E27FC236}">
                <a16:creationId xmlns:a16="http://schemas.microsoft.com/office/drawing/2014/main" xmlns="" id="{EAFD9F5B-1E69-6B69-33A3-81D0971B8C04}"/>
              </a:ext>
            </a:extLst>
          </p:cNvPr>
          <p:cNvSpPr>
            <a:spLocks noGrp="1"/>
          </p:cNvSpPr>
          <p:nvPr>
            <p:ph idx="1"/>
          </p:nvPr>
        </p:nvSpPr>
        <p:spPr>
          <a:xfrm>
            <a:off x="600693" y="1433740"/>
            <a:ext cx="10515600" cy="4351338"/>
          </a:xfrm>
        </p:spPr>
        <p:txBody>
          <a:bodyPr>
            <a:normAutofit fontScale="77500" lnSpcReduction="20000"/>
          </a:bodyPr>
          <a:lstStyle/>
          <a:p>
            <a:pPr marL="0" indent="0">
              <a:buNone/>
            </a:pPr>
            <a:endParaRPr lang="en-GB" sz="3200" b="1" dirty="0"/>
          </a:p>
          <a:p>
            <a:pPr marL="0" indent="0">
              <a:buNone/>
            </a:pPr>
            <a:r>
              <a:rPr lang="en-GB" sz="3600" b="1" dirty="0"/>
              <a:t>Self-</a:t>
            </a:r>
            <a:r>
              <a:rPr lang="en-GB" sz="3600" b="1" dirty="0" err="1"/>
              <a:t>preferencing</a:t>
            </a:r>
            <a:r>
              <a:rPr lang="en-GB" sz="3600" b="1" dirty="0"/>
              <a:t>: the </a:t>
            </a:r>
            <a:r>
              <a:rPr lang="en-GB" sz="3800" b="1" dirty="0"/>
              <a:t>EU Google Shopping case</a:t>
            </a:r>
            <a:endParaRPr lang="en-GB" sz="800" dirty="0"/>
          </a:p>
          <a:p>
            <a:r>
              <a:rPr lang="en-GB" altLang="fr-FR" sz="3600" dirty="0"/>
              <a:t>Google used its dominance in one market (general search) to get an unjustified advantage in a neighbouring market (comparison shopping services), instead of competing on the merits</a:t>
            </a:r>
          </a:p>
          <a:p>
            <a:pPr fontAlgn="base"/>
            <a:r>
              <a:rPr lang="en-GB" sz="3600" dirty="0"/>
              <a:t>Google promoted its own “comparison shopping” service in its general search results, to the detriment of rivals by:</a:t>
            </a:r>
          </a:p>
          <a:p>
            <a:pPr lvl="1" fontAlgn="base"/>
            <a:r>
              <a:rPr lang="en-GB" sz="3600" dirty="0"/>
              <a:t>Systematically positioning Google Shopping at the top of search results</a:t>
            </a:r>
          </a:p>
          <a:p>
            <a:pPr lvl="1" fontAlgn="base"/>
            <a:r>
              <a:rPr lang="en-GB" sz="3600" dirty="0"/>
              <a:t>Demoting rival comparison shopping services in search results</a:t>
            </a:r>
          </a:p>
          <a:p>
            <a:r>
              <a:rPr lang="en-GB" sz="3600" dirty="0"/>
              <a:t>Google Shopping gained significant traffic at the expense of its rivals</a:t>
            </a:r>
          </a:p>
          <a:p>
            <a:pPr marL="0" indent="0">
              <a:buNone/>
            </a:pPr>
            <a:endParaRPr lang="en-GB" dirty="0"/>
          </a:p>
          <a:p>
            <a:pPr lvl="1" fontAlgn="base"/>
            <a:endParaRPr lang="en-GB" dirty="0"/>
          </a:p>
        </p:txBody>
      </p:sp>
    </p:spTree>
    <p:extLst>
      <p:ext uri="{BB962C8B-B14F-4D97-AF65-F5344CB8AC3E}">
        <p14:creationId xmlns:p14="http://schemas.microsoft.com/office/powerpoint/2010/main" val="11776116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D24CE5B-1043-6618-C45C-BDA3085F1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2B4379FF-C728-570D-873E-885DE4EEFAD2}"/>
              </a:ext>
            </a:extLst>
          </p:cNvPr>
          <p:cNvSpPr>
            <a:spLocks noGrp="1"/>
          </p:cNvSpPr>
          <p:nvPr>
            <p:ph type="title"/>
          </p:nvPr>
        </p:nvSpPr>
        <p:spPr>
          <a:xfrm>
            <a:off x="838200" y="365125"/>
            <a:ext cx="10515600" cy="815975"/>
          </a:xfrm>
        </p:spPr>
        <p:txBody>
          <a:bodyPr>
            <a:normAutofit/>
          </a:bodyPr>
          <a:lstStyle/>
          <a:p>
            <a:r>
              <a:rPr lang="en-GB" sz="3200" b="1" dirty="0">
                <a:latin typeface="+mn-lt"/>
              </a:rPr>
              <a:t>III. UNILATERAL PRACTICES (vii) </a:t>
            </a:r>
            <a:endParaRPr lang="en-GB" sz="3100" b="1" dirty="0">
              <a:latin typeface="+mn-lt"/>
              <a:ea typeface="+mn-ea"/>
              <a:cs typeface="+mn-cs"/>
            </a:endParaRPr>
          </a:p>
        </p:txBody>
      </p:sp>
      <p:sp>
        <p:nvSpPr>
          <p:cNvPr id="3" name="Content Placeholder 2">
            <a:extLst>
              <a:ext uri="{FF2B5EF4-FFF2-40B4-BE49-F238E27FC236}">
                <a16:creationId xmlns:a16="http://schemas.microsoft.com/office/drawing/2014/main" xmlns="" id="{81253783-5323-6A5D-9EFB-F2D910AB7F34}"/>
              </a:ext>
            </a:extLst>
          </p:cNvPr>
          <p:cNvSpPr>
            <a:spLocks noGrp="1"/>
          </p:cNvSpPr>
          <p:nvPr>
            <p:ph idx="1"/>
          </p:nvPr>
        </p:nvSpPr>
        <p:spPr>
          <a:xfrm>
            <a:off x="320634" y="1857375"/>
            <a:ext cx="11033166" cy="4635500"/>
          </a:xfrm>
        </p:spPr>
        <p:txBody>
          <a:bodyPr>
            <a:normAutofit/>
          </a:bodyPr>
          <a:lstStyle/>
          <a:p>
            <a:pPr marL="0" indent="0">
              <a:buNone/>
            </a:pPr>
            <a:endParaRPr lang="en-GB" sz="3200" b="1" dirty="0"/>
          </a:p>
          <a:p>
            <a:pPr marL="0" indent="0" fontAlgn="base">
              <a:buNone/>
            </a:pPr>
            <a:endParaRPr lang="en-GB" dirty="0"/>
          </a:p>
          <a:p>
            <a:pPr lvl="1"/>
            <a:endParaRPr lang="en-GB" dirty="0"/>
          </a:p>
          <a:p>
            <a:pPr lvl="1" fontAlgn="base"/>
            <a:endParaRPr lang="en-GB" dirty="0"/>
          </a:p>
        </p:txBody>
      </p:sp>
      <p:pic>
        <p:nvPicPr>
          <p:cNvPr id="5" name="Picture 4">
            <a:extLst>
              <a:ext uri="{FF2B5EF4-FFF2-40B4-BE49-F238E27FC236}">
                <a16:creationId xmlns:a16="http://schemas.microsoft.com/office/drawing/2014/main" xmlns="" id="{BE63E38F-A0D4-1921-862A-79B183BB4346}"/>
              </a:ext>
            </a:extLst>
          </p:cNvPr>
          <p:cNvPicPr>
            <a:picLocks noChangeAspect="1"/>
          </p:cNvPicPr>
          <p:nvPr/>
        </p:nvPicPr>
        <p:blipFill>
          <a:blip r:embed="rId2"/>
          <a:stretch>
            <a:fillRect/>
          </a:stretch>
        </p:blipFill>
        <p:spPr>
          <a:xfrm>
            <a:off x="43418" y="1181100"/>
            <a:ext cx="8786258" cy="5311775"/>
          </a:xfrm>
          <a:prstGeom prst="rect">
            <a:avLst/>
          </a:prstGeom>
        </p:spPr>
      </p:pic>
    </p:spTree>
    <p:extLst>
      <p:ext uri="{BB962C8B-B14F-4D97-AF65-F5344CB8AC3E}">
        <p14:creationId xmlns:p14="http://schemas.microsoft.com/office/powerpoint/2010/main" val="32737991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41999C6-AD7D-E397-D4B5-B7F54D4D18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BCC3A941-7505-9867-BB20-25EB29A18C36}"/>
              </a:ext>
            </a:extLst>
          </p:cNvPr>
          <p:cNvSpPr>
            <a:spLocks noGrp="1"/>
          </p:cNvSpPr>
          <p:nvPr>
            <p:ph type="title"/>
          </p:nvPr>
        </p:nvSpPr>
        <p:spPr>
          <a:xfrm>
            <a:off x="838200" y="365126"/>
            <a:ext cx="10515600" cy="768350"/>
          </a:xfrm>
        </p:spPr>
        <p:txBody>
          <a:bodyPr>
            <a:normAutofit/>
          </a:bodyPr>
          <a:lstStyle/>
          <a:p>
            <a:r>
              <a:rPr lang="en-GB" sz="3200" b="1" dirty="0">
                <a:latin typeface="+mn-lt"/>
              </a:rPr>
              <a:t>III. UNILATERAL PRACTICES (viii)</a:t>
            </a:r>
          </a:p>
        </p:txBody>
      </p:sp>
      <p:sp>
        <p:nvSpPr>
          <p:cNvPr id="3" name="Content Placeholder 2">
            <a:extLst>
              <a:ext uri="{FF2B5EF4-FFF2-40B4-BE49-F238E27FC236}">
                <a16:creationId xmlns:a16="http://schemas.microsoft.com/office/drawing/2014/main" xmlns="" id="{361F1597-9754-57CD-342B-681246271F55}"/>
              </a:ext>
            </a:extLst>
          </p:cNvPr>
          <p:cNvSpPr>
            <a:spLocks noGrp="1"/>
          </p:cNvSpPr>
          <p:nvPr>
            <p:ph idx="1"/>
          </p:nvPr>
        </p:nvSpPr>
        <p:spPr>
          <a:xfrm>
            <a:off x="838200" y="1133476"/>
            <a:ext cx="10515600" cy="5043487"/>
          </a:xfrm>
        </p:spPr>
        <p:txBody>
          <a:bodyPr>
            <a:normAutofit/>
          </a:bodyPr>
          <a:lstStyle/>
          <a:p>
            <a:pPr lvl="1" fontAlgn="base"/>
            <a:endParaRPr lang="en-GB" dirty="0"/>
          </a:p>
        </p:txBody>
      </p:sp>
      <p:pic>
        <p:nvPicPr>
          <p:cNvPr id="6" name="Picture 5">
            <a:extLst>
              <a:ext uri="{FF2B5EF4-FFF2-40B4-BE49-F238E27FC236}">
                <a16:creationId xmlns:a16="http://schemas.microsoft.com/office/drawing/2014/main" xmlns="" id="{52C8AD8C-F78A-454E-6CA5-847EC558E7F0}"/>
              </a:ext>
            </a:extLst>
          </p:cNvPr>
          <p:cNvPicPr>
            <a:picLocks noChangeAspect="1"/>
          </p:cNvPicPr>
          <p:nvPr/>
        </p:nvPicPr>
        <p:blipFill>
          <a:blip r:embed="rId2"/>
          <a:stretch>
            <a:fillRect/>
          </a:stretch>
        </p:blipFill>
        <p:spPr>
          <a:xfrm>
            <a:off x="2409825" y="1772707"/>
            <a:ext cx="6589708" cy="4313767"/>
          </a:xfrm>
          <a:prstGeom prst="rect">
            <a:avLst/>
          </a:prstGeom>
        </p:spPr>
      </p:pic>
    </p:spTree>
    <p:extLst>
      <p:ext uri="{BB962C8B-B14F-4D97-AF65-F5344CB8AC3E}">
        <p14:creationId xmlns:p14="http://schemas.microsoft.com/office/powerpoint/2010/main" val="40268020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0C7E773-55A2-F5AC-FADA-A04C306626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77A1960A-7A32-ECCE-4D8D-48B1ED2E3D92}"/>
              </a:ext>
            </a:extLst>
          </p:cNvPr>
          <p:cNvSpPr>
            <a:spLocks noGrp="1"/>
          </p:cNvSpPr>
          <p:nvPr>
            <p:ph type="title"/>
          </p:nvPr>
        </p:nvSpPr>
        <p:spPr/>
        <p:txBody>
          <a:bodyPr/>
          <a:lstStyle/>
          <a:p>
            <a:r>
              <a:rPr lang="en-GB" b="1" dirty="0">
                <a:latin typeface="+mn-lt"/>
              </a:rPr>
              <a:t>III. UNILATERAL PRACTICES (ix)</a:t>
            </a:r>
          </a:p>
        </p:txBody>
      </p:sp>
      <p:sp>
        <p:nvSpPr>
          <p:cNvPr id="3" name="Content Placeholder 2">
            <a:extLst>
              <a:ext uri="{FF2B5EF4-FFF2-40B4-BE49-F238E27FC236}">
                <a16:creationId xmlns:a16="http://schemas.microsoft.com/office/drawing/2014/main" xmlns="" id="{9DCC5D88-2E67-ADFB-80CB-B2DC46E6210D}"/>
              </a:ext>
            </a:extLst>
          </p:cNvPr>
          <p:cNvSpPr>
            <a:spLocks noGrp="1"/>
          </p:cNvSpPr>
          <p:nvPr>
            <p:ph idx="1"/>
          </p:nvPr>
        </p:nvSpPr>
        <p:spPr/>
        <p:txBody>
          <a:bodyPr>
            <a:normAutofit/>
          </a:bodyPr>
          <a:lstStyle/>
          <a:p>
            <a:pPr marL="0" indent="0">
              <a:buNone/>
            </a:pPr>
            <a:r>
              <a:rPr lang="en-GB" sz="3200" b="1" dirty="0"/>
              <a:t>Self-preferencing: </a:t>
            </a:r>
            <a:r>
              <a:rPr lang="en-GB" sz="3200" b="1" i="1" dirty="0"/>
              <a:t>Google Shopping </a:t>
            </a:r>
            <a:r>
              <a:rPr lang="en-GB" sz="3200" b="1" dirty="0"/>
              <a:t>remedy</a:t>
            </a:r>
          </a:p>
          <a:p>
            <a:pPr marL="0" indent="0">
              <a:buNone/>
            </a:pPr>
            <a:endParaRPr lang="en-GB" sz="800" dirty="0"/>
          </a:p>
          <a:p>
            <a:pPr fontAlgn="base"/>
            <a:r>
              <a:rPr lang="en-GB" dirty="0"/>
              <a:t>Cease and desist order: Google must ensure equal treatment between Google Shopping and rival comparison shopping services</a:t>
            </a:r>
          </a:p>
          <a:p>
            <a:pPr fontAlgn="base"/>
            <a:r>
              <a:rPr lang="en-GB" dirty="0"/>
              <a:t>It was for Google to choose how to comply as long as it abides by the core principle of equal treatment</a:t>
            </a:r>
          </a:p>
          <a:p>
            <a:pPr fontAlgn="base"/>
            <a:r>
              <a:rPr lang="en-GB" dirty="0"/>
              <a:t>In 2017 Google introduced an arms-length auction by which rival comparison shopping services and Google Shopping bid for ads to appear on Google’s search results pages (an access remedy)</a:t>
            </a:r>
          </a:p>
          <a:p>
            <a:pPr fontAlgn="base"/>
            <a:r>
              <a:rPr lang="en-GB" dirty="0"/>
              <a:t>The effectiveness of the remedy has been controversial!</a:t>
            </a:r>
          </a:p>
          <a:p>
            <a:pPr fontAlgn="base"/>
            <a:endParaRPr lang="en-GB" dirty="0"/>
          </a:p>
          <a:p>
            <a:pPr lvl="1"/>
            <a:endParaRPr lang="en-GB" dirty="0"/>
          </a:p>
          <a:p>
            <a:pPr lvl="1" fontAlgn="base"/>
            <a:endParaRPr lang="en-GB" dirty="0"/>
          </a:p>
        </p:txBody>
      </p:sp>
    </p:spTree>
    <p:extLst>
      <p:ext uri="{BB962C8B-B14F-4D97-AF65-F5344CB8AC3E}">
        <p14:creationId xmlns:p14="http://schemas.microsoft.com/office/powerpoint/2010/main" val="5031758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764183B-19F5-EC50-79F2-9A2A46CCDB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95D66B1C-4584-2379-0F71-96EE40E20A92}"/>
              </a:ext>
            </a:extLst>
          </p:cNvPr>
          <p:cNvSpPr>
            <a:spLocks noGrp="1"/>
          </p:cNvSpPr>
          <p:nvPr>
            <p:ph type="title"/>
          </p:nvPr>
        </p:nvSpPr>
        <p:spPr/>
        <p:txBody>
          <a:bodyPr/>
          <a:lstStyle/>
          <a:p>
            <a:r>
              <a:rPr lang="en-GB" b="1" dirty="0"/>
              <a:t>III. UNILATERAL </a:t>
            </a:r>
            <a:r>
              <a:rPr lang="en-GB" b="1"/>
              <a:t>PRACTICES (x</a:t>
            </a:r>
            <a:r>
              <a:rPr lang="en-GB" b="1" dirty="0"/>
              <a:t>)</a:t>
            </a:r>
          </a:p>
        </p:txBody>
      </p:sp>
      <p:sp>
        <p:nvSpPr>
          <p:cNvPr id="3" name="Content Placeholder 2">
            <a:extLst>
              <a:ext uri="{FF2B5EF4-FFF2-40B4-BE49-F238E27FC236}">
                <a16:creationId xmlns:a16="http://schemas.microsoft.com/office/drawing/2014/main" xmlns="" id="{82C58916-9F32-F839-8597-450012E8C3BB}"/>
              </a:ext>
            </a:extLst>
          </p:cNvPr>
          <p:cNvSpPr>
            <a:spLocks noGrp="1"/>
          </p:cNvSpPr>
          <p:nvPr>
            <p:ph idx="1"/>
          </p:nvPr>
        </p:nvSpPr>
        <p:spPr/>
        <p:txBody>
          <a:bodyPr>
            <a:normAutofit fontScale="77500" lnSpcReduction="20000"/>
          </a:bodyPr>
          <a:lstStyle/>
          <a:p>
            <a:pPr marL="0" indent="0">
              <a:buNone/>
            </a:pPr>
            <a:r>
              <a:rPr lang="en-GB" sz="3200" b="1" dirty="0"/>
              <a:t>3. Refusals to Deal</a:t>
            </a:r>
          </a:p>
          <a:p>
            <a:pPr marL="0" indent="0">
              <a:buNone/>
            </a:pPr>
            <a:r>
              <a:rPr lang="en-GB" sz="3200" b="1" dirty="0"/>
              <a:t> </a:t>
            </a:r>
          </a:p>
          <a:p>
            <a:pPr fontAlgn="base">
              <a:buFont typeface="Wingdings" pitchFamily="2" charset="2"/>
              <a:buChar char="Ø"/>
            </a:pPr>
            <a:r>
              <a:rPr lang="en-GB" dirty="0"/>
              <a:t>A significant difference in approach between situations where the owner or operator decides to deny access to downstream competitors of a facility designed for its own use and that which is designed or is anticipated to be used by competitors</a:t>
            </a:r>
          </a:p>
          <a:p>
            <a:pPr fontAlgn="base">
              <a:buFont typeface="Wingdings" pitchFamily="2" charset="2"/>
              <a:buChar char="Ø"/>
            </a:pPr>
            <a:r>
              <a:rPr lang="en-GB" i="1" dirty="0"/>
              <a:t>De novo </a:t>
            </a:r>
            <a:r>
              <a:rPr lang="en-GB" dirty="0"/>
              <a:t>refusal to deal is usually addressed by the “essential facilities” test established in the </a:t>
            </a:r>
            <a:r>
              <a:rPr lang="en-GB" b="1" i="1" dirty="0"/>
              <a:t>Oscar Bronner </a:t>
            </a:r>
            <a:r>
              <a:rPr lang="en-GB" dirty="0"/>
              <a:t>and</a:t>
            </a:r>
            <a:r>
              <a:rPr lang="en-GB" b="1" i="1" dirty="0"/>
              <a:t> Volvo </a:t>
            </a:r>
            <a:r>
              <a:rPr lang="en-GB" dirty="0"/>
              <a:t>Cases, which requires that three conditions be satisfied: </a:t>
            </a:r>
          </a:p>
          <a:p>
            <a:pPr marL="514350" indent="-514350" fontAlgn="base">
              <a:buAutoNum type="arabicParenBoth"/>
            </a:pPr>
            <a:r>
              <a:rPr lang="en-GB" dirty="0"/>
              <a:t>the access product is “indispensable” for business; </a:t>
            </a:r>
          </a:p>
          <a:p>
            <a:pPr marL="514350" indent="-514350" fontAlgn="base">
              <a:buAutoNum type="arabicParenBoth" startAt="2"/>
            </a:pPr>
            <a:r>
              <a:rPr lang="en-GB" dirty="0"/>
              <a:t>there is no objective justification for the access refusal; </a:t>
            </a:r>
          </a:p>
          <a:p>
            <a:pPr marL="514350" indent="-514350" fontAlgn="base">
              <a:buAutoNum type="arabicParenBoth" startAt="2"/>
            </a:pPr>
            <a:r>
              <a:rPr lang="en-GB" dirty="0"/>
              <a:t>the refusal eliminates all competition in the secondary market; and </a:t>
            </a:r>
          </a:p>
          <a:p>
            <a:pPr marL="514350" indent="-514350" fontAlgn="base">
              <a:buAutoNum type="arabicParenBoth" startAt="2"/>
            </a:pPr>
            <a:r>
              <a:rPr lang="en-GB" dirty="0"/>
              <a:t>in the case of IP rights, the refusal prevents the growth of a “new product” for which there is demand </a:t>
            </a:r>
          </a:p>
          <a:p>
            <a:pPr marL="0" indent="0" fontAlgn="base">
              <a:buNone/>
            </a:pPr>
            <a:r>
              <a:rPr lang="en-GB" dirty="0"/>
              <a:t> </a:t>
            </a:r>
          </a:p>
          <a:p>
            <a:pPr lvl="1"/>
            <a:endParaRPr lang="en-GB" dirty="0"/>
          </a:p>
          <a:p>
            <a:pPr lvl="1" fontAlgn="base"/>
            <a:endParaRPr lang="en-GB" dirty="0"/>
          </a:p>
        </p:txBody>
      </p:sp>
    </p:spTree>
    <p:extLst>
      <p:ext uri="{BB962C8B-B14F-4D97-AF65-F5344CB8AC3E}">
        <p14:creationId xmlns:p14="http://schemas.microsoft.com/office/powerpoint/2010/main" val="10541025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00F809B-0942-DE31-CC2A-378B81DDD6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C8F62A5C-717A-A544-47FF-1E258A7D7E1E}"/>
              </a:ext>
            </a:extLst>
          </p:cNvPr>
          <p:cNvSpPr>
            <a:spLocks noGrp="1"/>
          </p:cNvSpPr>
          <p:nvPr>
            <p:ph type="title"/>
          </p:nvPr>
        </p:nvSpPr>
        <p:spPr/>
        <p:txBody>
          <a:bodyPr/>
          <a:lstStyle/>
          <a:p>
            <a:r>
              <a:rPr lang="en-GB" b="1" dirty="0"/>
              <a:t>III. UNILATERAL PRACTICES (xi)</a:t>
            </a:r>
          </a:p>
        </p:txBody>
      </p:sp>
      <p:sp>
        <p:nvSpPr>
          <p:cNvPr id="3" name="Content Placeholder 2">
            <a:extLst>
              <a:ext uri="{FF2B5EF4-FFF2-40B4-BE49-F238E27FC236}">
                <a16:creationId xmlns:a16="http://schemas.microsoft.com/office/drawing/2014/main" xmlns="" id="{21224632-A4D8-E0F9-7B50-784B338ED364}"/>
              </a:ext>
            </a:extLst>
          </p:cNvPr>
          <p:cNvSpPr>
            <a:spLocks noGrp="1"/>
          </p:cNvSpPr>
          <p:nvPr>
            <p:ph idx="1"/>
          </p:nvPr>
        </p:nvSpPr>
        <p:spPr>
          <a:xfrm>
            <a:off x="291549" y="1524000"/>
            <a:ext cx="11542642" cy="4704522"/>
          </a:xfrm>
        </p:spPr>
        <p:txBody>
          <a:bodyPr>
            <a:normAutofit fontScale="92500" lnSpcReduction="10000"/>
          </a:bodyPr>
          <a:lstStyle/>
          <a:p>
            <a:pPr marL="0" indent="0">
              <a:buNone/>
            </a:pPr>
            <a:r>
              <a:rPr lang="en-GB" sz="3000" b="1" dirty="0"/>
              <a:t>3. Refusals to Deal </a:t>
            </a:r>
          </a:p>
          <a:p>
            <a:pPr fontAlgn="base">
              <a:buFont typeface="Wingdings" pitchFamily="2" charset="2"/>
              <a:buChar char="Ø"/>
            </a:pPr>
            <a:r>
              <a:rPr lang="en-GB" dirty="0"/>
              <a:t>Over time, the essential facilities doctrine has been restricted where certain circumstances arise, especially as regards the ‘indispensability’ notion: </a:t>
            </a:r>
          </a:p>
          <a:p>
            <a:pPr fontAlgn="base">
              <a:buFont typeface="Courier New" panose="02070309020205020404" pitchFamily="49" charset="0"/>
              <a:buChar char="o"/>
            </a:pPr>
            <a:r>
              <a:rPr lang="en-GB" dirty="0"/>
              <a:t>where sectoral regulation already prescribes access (</a:t>
            </a:r>
            <a:r>
              <a:rPr lang="en-GB" b="1" i="1" dirty="0"/>
              <a:t>TeliaSonera</a:t>
            </a:r>
            <a:r>
              <a:rPr lang="en-GB" dirty="0"/>
              <a:t>)</a:t>
            </a:r>
          </a:p>
          <a:p>
            <a:pPr fontAlgn="base">
              <a:buFont typeface="Courier New" panose="02070309020205020404" pitchFamily="49" charset="0"/>
              <a:buChar char="o"/>
            </a:pPr>
            <a:r>
              <a:rPr lang="en-GB" dirty="0"/>
              <a:t>if the facility owner has benefited from State subsidies (</a:t>
            </a:r>
            <a:r>
              <a:rPr lang="en-GB" b="1" i="1" dirty="0"/>
              <a:t>Slovak Telekom</a:t>
            </a:r>
            <a:r>
              <a:rPr lang="en-GB" dirty="0"/>
              <a:t>) </a:t>
            </a:r>
          </a:p>
          <a:p>
            <a:pPr fontAlgn="base">
              <a:buFont typeface="Courier New" panose="02070309020205020404" pitchFamily="49" charset="0"/>
              <a:buChar char="o"/>
            </a:pPr>
            <a:r>
              <a:rPr lang="en-GB" dirty="0"/>
              <a:t>if the need for interoperability is inherent to the product (</a:t>
            </a:r>
            <a:r>
              <a:rPr lang="en-GB" b="1" i="1" dirty="0"/>
              <a:t>Android Auto</a:t>
            </a:r>
            <a:r>
              <a:rPr lang="en-GB" dirty="0"/>
              <a:t>)</a:t>
            </a:r>
          </a:p>
          <a:p>
            <a:pPr fontAlgn="base">
              <a:buFont typeface="Courier New" panose="02070309020205020404" pitchFamily="49" charset="0"/>
              <a:buChar char="o"/>
            </a:pPr>
            <a:r>
              <a:rPr lang="en-GB" dirty="0"/>
              <a:t>where the offence can be characterised on an alternative basis (</a:t>
            </a:r>
            <a:r>
              <a:rPr lang="en-GB" b="1" i="1" dirty="0"/>
              <a:t>Lithuanian Railways</a:t>
            </a:r>
            <a:r>
              <a:rPr lang="en-GB" dirty="0"/>
              <a:t>, many margin squeeze cases, self-preferencing under </a:t>
            </a:r>
            <a:r>
              <a:rPr lang="en-GB" b="1" i="1" dirty="0"/>
              <a:t>Google Shopping</a:t>
            </a:r>
            <a:r>
              <a:rPr lang="en-GB" dirty="0"/>
              <a:t>) </a:t>
            </a:r>
          </a:p>
          <a:p>
            <a:pPr fontAlgn="base">
              <a:buFont typeface="Wingdings" pitchFamily="2" charset="2"/>
              <a:buChar char="Ø"/>
            </a:pPr>
            <a:r>
              <a:rPr lang="en-GB" dirty="0"/>
              <a:t>Where ongoing commercial relations exist, refusals to deal are often addressed by reference to the “</a:t>
            </a:r>
            <a:r>
              <a:rPr lang="en-GB" b="1" dirty="0"/>
              <a:t>dependency</a:t>
            </a:r>
            <a:r>
              <a:rPr lang="en-GB" dirty="0"/>
              <a:t>” doctrine that are commonly found in European Member State competition laws </a:t>
            </a:r>
          </a:p>
        </p:txBody>
      </p:sp>
    </p:spTree>
    <p:extLst>
      <p:ext uri="{BB962C8B-B14F-4D97-AF65-F5344CB8AC3E}">
        <p14:creationId xmlns:p14="http://schemas.microsoft.com/office/powerpoint/2010/main" val="42352532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C50464C-A90B-A5E2-870D-BFAEA18221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410FE6CD-B919-95DD-A3A8-D8E16110964A}"/>
              </a:ext>
            </a:extLst>
          </p:cNvPr>
          <p:cNvSpPr>
            <a:spLocks noGrp="1"/>
          </p:cNvSpPr>
          <p:nvPr>
            <p:ph type="title"/>
          </p:nvPr>
        </p:nvSpPr>
        <p:spPr/>
        <p:txBody>
          <a:bodyPr/>
          <a:lstStyle/>
          <a:p>
            <a:r>
              <a:rPr lang="en-GB" b="1" dirty="0"/>
              <a:t>III. UNILATERAL PRACTICES (xii)</a:t>
            </a:r>
          </a:p>
        </p:txBody>
      </p:sp>
      <p:sp>
        <p:nvSpPr>
          <p:cNvPr id="3" name="Content Placeholder 2">
            <a:extLst>
              <a:ext uri="{FF2B5EF4-FFF2-40B4-BE49-F238E27FC236}">
                <a16:creationId xmlns:a16="http://schemas.microsoft.com/office/drawing/2014/main" xmlns="" id="{6CB5DE3A-D51A-27FE-3EB7-D03AE35765CD}"/>
              </a:ext>
            </a:extLst>
          </p:cNvPr>
          <p:cNvSpPr>
            <a:spLocks noGrp="1"/>
          </p:cNvSpPr>
          <p:nvPr>
            <p:ph idx="1"/>
          </p:nvPr>
        </p:nvSpPr>
        <p:spPr/>
        <p:txBody>
          <a:bodyPr>
            <a:normAutofit lnSpcReduction="10000"/>
          </a:bodyPr>
          <a:lstStyle/>
          <a:p>
            <a:pPr marL="0" indent="0">
              <a:buNone/>
            </a:pPr>
            <a:r>
              <a:rPr lang="en-GB" sz="3200" b="1" dirty="0"/>
              <a:t>4. Exploitative Abuses</a:t>
            </a:r>
          </a:p>
          <a:p>
            <a:pPr fontAlgn="base"/>
            <a:r>
              <a:rPr lang="en-GB" dirty="0"/>
              <a:t>Concerned with the control of conduct that ‘unfairly’ exploits market power to the detriment of others</a:t>
            </a:r>
          </a:p>
          <a:p>
            <a:pPr fontAlgn="base"/>
            <a:r>
              <a:rPr lang="en-GB" dirty="0"/>
              <a:t>Examples: excessive pricing, unfair business terms, discrimination, inefficiency</a:t>
            </a:r>
          </a:p>
          <a:p>
            <a:pPr fontAlgn="base"/>
            <a:r>
              <a:rPr lang="en-GB" dirty="0"/>
              <a:t>Historically, enforcement practice has been very limited: why?</a:t>
            </a:r>
          </a:p>
          <a:p>
            <a:pPr fontAlgn="base"/>
            <a:r>
              <a:rPr lang="en-GB" dirty="0"/>
              <a:t>Renewed interest within the EU: </a:t>
            </a:r>
            <a:r>
              <a:rPr lang="en-GB" i="1" dirty="0"/>
              <a:t>Aspen </a:t>
            </a:r>
            <a:r>
              <a:rPr lang="en-GB" dirty="0"/>
              <a:t>(2021), </a:t>
            </a:r>
            <a:r>
              <a:rPr lang="en-GB" i="1" dirty="0"/>
              <a:t>Apple/Spotify </a:t>
            </a:r>
            <a:r>
              <a:rPr lang="en-GB" dirty="0"/>
              <a:t>(2024), </a:t>
            </a:r>
            <a:r>
              <a:rPr lang="en-GB" i="1" dirty="0"/>
              <a:t>Meta Marketplace </a:t>
            </a:r>
            <a:r>
              <a:rPr lang="en-GB" dirty="0"/>
              <a:t>(2025); and in the UK: Phenytoin (2022)</a:t>
            </a:r>
          </a:p>
          <a:p>
            <a:pPr fontAlgn="base"/>
            <a:r>
              <a:rPr lang="en-GB" dirty="0"/>
              <a:t>Ongoing investigations into Google’s use of AI content and into WhatsApp’s prohibition of third-party AI providers </a:t>
            </a:r>
          </a:p>
          <a:p>
            <a:pPr marL="0" indent="0" fontAlgn="base">
              <a:buNone/>
            </a:pPr>
            <a:endParaRPr lang="en-GB" dirty="0"/>
          </a:p>
          <a:p>
            <a:pPr lvl="1"/>
            <a:endParaRPr lang="en-GB" dirty="0"/>
          </a:p>
          <a:p>
            <a:pPr lvl="1" fontAlgn="base"/>
            <a:endParaRPr lang="en-GB" dirty="0"/>
          </a:p>
        </p:txBody>
      </p:sp>
    </p:spTree>
    <p:extLst>
      <p:ext uri="{BB962C8B-B14F-4D97-AF65-F5344CB8AC3E}">
        <p14:creationId xmlns:p14="http://schemas.microsoft.com/office/powerpoint/2010/main" val="28700190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FF7BAAE-7D86-7A83-E4B7-7514F12343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05610D90-2115-4EDD-227B-88906B9EAA40}"/>
              </a:ext>
            </a:extLst>
          </p:cNvPr>
          <p:cNvSpPr>
            <a:spLocks noGrp="1"/>
          </p:cNvSpPr>
          <p:nvPr>
            <p:ph type="title"/>
          </p:nvPr>
        </p:nvSpPr>
        <p:spPr/>
        <p:txBody>
          <a:bodyPr/>
          <a:lstStyle/>
          <a:p>
            <a:r>
              <a:rPr lang="en-GB" b="1" dirty="0"/>
              <a:t>III. UNILATERAL PRACTICES (xiii) </a:t>
            </a:r>
          </a:p>
        </p:txBody>
      </p:sp>
      <p:sp>
        <p:nvSpPr>
          <p:cNvPr id="3" name="Content Placeholder 2">
            <a:extLst>
              <a:ext uri="{FF2B5EF4-FFF2-40B4-BE49-F238E27FC236}">
                <a16:creationId xmlns:a16="http://schemas.microsoft.com/office/drawing/2014/main" xmlns="" id="{CB7453CF-0A57-A510-6AEA-3F37A7B120C3}"/>
              </a:ext>
            </a:extLst>
          </p:cNvPr>
          <p:cNvSpPr>
            <a:spLocks noGrp="1"/>
          </p:cNvSpPr>
          <p:nvPr>
            <p:ph idx="1"/>
          </p:nvPr>
        </p:nvSpPr>
        <p:spPr/>
        <p:txBody>
          <a:bodyPr>
            <a:normAutofit/>
          </a:bodyPr>
          <a:lstStyle/>
          <a:p>
            <a:pPr marL="0" indent="0">
              <a:buNone/>
            </a:pPr>
            <a:r>
              <a:rPr lang="en-GB" sz="3200" b="1" dirty="0"/>
              <a:t>4. Exploitative abuses: excessive pricing</a:t>
            </a:r>
          </a:p>
          <a:p>
            <a:pPr marL="0" indent="0">
              <a:buNone/>
            </a:pPr>
            <a:endParaRPr lang="en-GB" sz="800" dirty="0"/>
          </a:p>
          <a:p>
            <a:pPr fontAlgn="base"/>
            <a:r>
              <a:rPr lang="en-GB" dirty="0"/>
              <a:t>The basic test is whether the price is unfair</a:t>
            </a:r>
          </a:p>
          <a:p>
            <a:pPr fontAlgn="base"/>
            <a:r>
              <a:rPr lang="en-GB" dirty="0"/>
              <a:t>EU and UK cases ask whether the dominant firm has reaped trading benefits which it could not have obtained in conditions of "</a:t>
            </a:r>
            <a:r>
              <a:rPr lang="en-GB" i="1" dirty="0"/>
              <a:t>normal and sufficiently effective competition</a:t>
            </a:r>
            <a:r>
              <a:rPr lang="en-GB" dirty="0"/>
              <a:t>“</a:t>
            </a:r>
          </a:p>
          <a:p>
            <a:pPr fontAlgn="base"/>
            <a:r>
              <a:rPr lang="en-GB" dirty="0"/>
              <a:t>There is no single method or way in which an unfair pricing abuse might be established</a:t>
            </a:r>
          </a:p>
          <a:p>
            <a:pPr fontAlgn="base"/>
            <a:r>
              <a:rPr lang="en-GB" dirty="0"/>
              <a:t>Depending on the facts of the case, a competition authority or claimant might use one or more alternative methods</a:t>
            </a:r>
          </a:p>
        </p:txBody>
      </p:sp>
    </p:spTree>
    <p:extLst>
      <p:ext uri="{BB962C8B-B14F-4D97-AF65-F5344CB8AC3E}">
        <p14:creationId xmlns:p14="http://schemas.microsoft.com/office/powerpoint/2010/main" val="20361300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5328826-E639-EF44-95C8-B2E6938675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7EC0F65A-A15D-5716-52F6-1AA72E40ABC0}"/>
              </a:ext>
            </a:extLst>
          </p:cNvPr>
          <p:cNvSpPr>
            <a:spLocks noGrp="1"/>
          </p:cNvSpPr>
          <p:nvPr>
            <p:ph type="title"/>
          </p:nvPr>
        </p:nvSpPr>
        <p:spPr/>
        <p:txBody>
          <a:bodyPr/>
          <a:lstStyle/>
          <a:p>
            <a:r>
              <a:rPr lang="en-GB" b="1" dirty="0"/>
              <a:t>III. UNILATERAL PRACTICES (xiv)</a:t>
            </a:r>
          </a:p>
        </p:txBody>
      </p:sp>
      <p:sp>
        <p:nvSpPr>
          <p:cNvPr id="3" name="Content Placeholder 2">
            <a:extLst>
              <a:ext uri="{FF2B5EF4-FFF2-40B4-BE49-F238E27FC236}">
                <a16:creationId xmlns:a16="http://schemas.microsoft.com/office/drawing/2014/main" xmlns="" id="{CDB0FF19-404E-F99A-B13E-9121BF17E31D}"/>
              </a:ext>
            </a:extLst>
          </p:cNvPr>
          <p:cNvSpPr>
            <a:spLocks noGrp="1"/>
          </p:cNvSpPr>
          <p:nvPr>
            <p:ph idx="1"/>
          </p:nvPr>
        </p:nvSpPr>
        <p:spPr>
          <a:xfrm>
            <a:off x="838200" y="1825625"/>
            <a:ext cx="10744200" cy="4351338"/>
          </a:xfrm>
        </p:spPr>
        <p:txBody>
          <a:bodyPr>
            <a:normAutofit/>
          </a:bodyPr>
          <a:lstStyle/>
          <a:p>
            <a:pPr marL="0" indent="0">
              <a:buNone/>
            </a:pPr>
            <a:r>
              <a:rPr lang="en-GB" sz="3200" b="1" dirty="0"/>
              <a:t>4. Exploitative Abuses: Excessive Pricing</a:t>
            </a:r>
          </a:p>
          <a:p>
            <a:pPr marL="0" indent="0">
              <a:buNone/>
            </a:pPr>
            <a:endParaRPr lang="en-GB" sz="800" dirty="0"/>
          </a:p>
          <a:p>
            <a:pPr fontAlgn="base"/>
            <a:r>
              <a:rPr lang="en-GB" dirty="0"/>
              <a:t>One of the most well-known and well-established test for excessive pricing is derived from the </a:t>
            </a:r>
            <a:r>
              <a:rPr lang="en-GB" i="1" dirty="0"/>
              <a:t>United Brands </a:t>
            </a:r>
            <a:r>
              <a:rPr lang="en-GB" dirty="0"/>
              <a:t>Case, under which it must be established that:</a:t>
            </a:r>
          </a:p>
          <a:p>
            <a:pPr lvl="1" fontAlgn="base"/>
            <a:r>
              <a:rPr lang="en-GB" dirty="0"/>
              <a:t>Price is excessive in relation to costs of production plus its cost of capital </a:t>
            </a:r>
            <a:r>
              <a:rPr lang="en-GB" dirty="0">
                <a:solidFill>
                  <a:srgbClr val="FF0000"/>
                </a:solidFill>
              </a:rPr>
              <a:t>and</a:t>
            </a:r>
            <a:r>
              <a:rPr lang="en-GB" u="sng" dirty="0"/>
              <a:t> </a:t>
            </a:r>
          </a:p>
          <a:p>
            <a:pPr lvl="1" fontAlgn="base"/>
            <a:r>
              <a:rPr lang="en-GB" dirty="0"/>
              <a:t>Price is unfair either in itself or by comparison with comparable products</a:t>
            </a:r>
          </a:p>
          <a:p>
            <a:pPr fontAlgn="base"/>
            <a:r>
              <a:rPr lang="en-GB" dirty="0"/>
              <a:t>Competition Authorities have a margin of manoeuvre or appreciation in deciding which methodology to use and which evidence to rely upon</a:t>
            </a:r>
          </a:p>
          <a:p>
            <a:pPr fontAlgn="base"/>
            <a:endParaRPr lang="en-GB" dirty="0"/>
          </a:p>
          <a:p>
            <a:pPr fontAlgn="base"/>
            <a:endParaRPr lang="en-GB" dirty="0"/>
          </a:p>
        </p:txBody>
      </p:sp>
    </p:spTree>
    <p:extLst>
      <p:ext uri="{BB962C8B-B14F-4D97-AF65-F5344CB8AC3E}">
        <p14:creationId xmlns:p14="http://schemas.microsoft.com/office/powerpoint/2010/main" val="20447402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4BDE120-775D-30C2-3E76-D6A6591A51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E527F58D-C415-503E-B014-E31D86BFC5C5}"/>
              </a:ext>
            </a:extLst>
          </p:cNvPr>
          <p:cNvSpPr>
            <a:spLocks noGrp="1"/>
          </p:cNvSpPr>
          <p:nvPr>
            <p:ph type="title"/>
          </p:nvPr>
        </p:nvSpPr>
        <p:spPr/>
        <p:txBody>
          <a:bodyPr/>
          <a:lstStyle/>
          <a:p>
            <a:r>
              <a:rPr lang="en-GB" b="1" dirty="0"/>
              <a:t>III. UNILATERAL PRACTICES (xv) </a:t>
            </a:r>
          </a:p>
        </p:txBody>
      </p:sp>
      <p:sp>
        <p:nvSpPr>
          <p:cNvPr id="3" name="Content Placeholder 2">
            <a:extLst>
              <a:ext uri="{FF2B5EF4-FFF2-40B4-BE49-F238E27FC236}">
                <a16:creationId xmlns:a16="http://schemas.microsoft.com/office/drawing/2014/main" xmlns="" id="{1A415B06-1207-1F98-9B40-64C9797F45BF}"/>
              </a:ext>
            </a:extLst>
          </p:cNvPr>
          <p:cNvSpPr>
            <a:spLocks noGrp="1"/>
          </p:cNvSpPr>
          <p:nvPr>
            <p:ph idx="1"/>
          </p:nvPr>
        </p:nvSpPr>
        <p:spPr/>
        <p:txBody>
          <a:bodyPr>
            <a:normAutofit/>
          </a:bodyPr>
          <a:lstStyle/>
          <a:p>
            <a:pPr marL="0" indent="0">
              <a:buNone/>
            </a:pPr>
            <a:r>
              <a:rPr lang="en-GB" sz="3200" b="1" dirty="0"/>
              <a:t>4. Exploitative Abuses: Unfair Pricing</a:t>
            </a:r>
          </a:p>
          <a:p>
            <a:pPr marL="0" indent="0">
              <a:buNone/>
            </a:pPr>
            <a:endParaRPr lang="en-GB" sz="800" dirty="0"/>
          </a:p>
          <a:p>
            <a:pPr fontAlgn="base"/>
            <a:r>
              <a:rPr lang="en-GB" dirty="0"/>
              <a:t>The concept of prices that are “unfair in themselves”:</a:t>
            </a:r>
          </a:p>
          <a:p>
            <a:pPr lvl="1" fontAlgn="base"/>
            <a:r>
              <a:rPr lang="en-GB" dirty="0"/>
              <a:t>Consider </a:t>
            </a:r>
            <a:r>
              <a:rPr lang="en-GB" i="1" dirty="0"/>
              <a:t>Kent v Apple </a:t>
            </a:r>
            <a:r>
              <a:rPr lang="en-GB" dirty="0"/>
              <a:t>(2025), where Apple’s fees on purchases of apps and in-app purchases were unfair in themselves as it is an unconstrained monopolist</a:t>
            </a:r>
          </a:p>
          <a:p>
            <a:pPr lvl="1" fontAlgn="base"/>
            <a:r>
              <a:rPr lang="en-GB" dirty="0"/>
              <a:t>Consider also </a:t>
            </a:r>
            <a:r>
              <a:rPr lang="en-GB" i="1" dirty="0"/>
              <a:t>Attheraces v British Horseracing Board</a:t>
            </a:r>
            <a:r>
              <a:rPr lang="en-GB" dirty="0"/>
              <a:t> (2007), where the Court of Appeal contrasted two situations:</a:t>
            </a:r>
          </a:p>
          <a:p>
            <a:pPr lvl="2" fontAlgn="base"/>
            <a:r>
              <a:rPr lang="en-GB" dirty="0"/>
              <a:t>A monopoly supplier of a delicacy to a supermarket charges a price equal to the full value that the supermarket would charge to its consumers: this is unobjectionable</a:t>
            </a:r>
          </a:p>
          <a:p>
            <a:pPr lvl="2" fontAlgn="base"/>
            <a:r>
              <a:rPr lang="en-GB" dirty="0"/>
              <a:t>A monopoly electricity supplier charges customers the full price that they would be willing to pay: this is, in all likelihood, objectionable</a:t>
            </a:r>
          </a:p>
        </p:txBody>
      </p:sp>
    </p:spTree>
    <p:extLst>
      <p:ext uri="{BB962C8B-B14F-4D97-AF65-F5344CB8AC3E}">
        <p14:creationId xmlns:p14="http://schemas.microsoft.com/office/powerpoint/2010/main" val="41596523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8524619-519C-6E76-958C-F8470E1523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37418EDD-57A1-77DB-5525-E481D95BCCA8}"/>
              </a:ext>
            </a:extLst>
          </p:cNvPr>
          <p:cNvSpPr>
            <a:spLocks noGrp="1"/>
          </p:cNvSpPr>
          <p:nvPr>
            <p:ph type="title"/>
          </p:nvPr>
        </p:nvSpPr>
        <p:spPr/>
        <p:txBody>
          <a:bodyPr/>
          <a:lstStyle/>
          <a:p>
            <a:r>
              <a:rPr lang="en-GB" b="1" dirty="0"/>
              <a:t>III. UNILATERAL PRACTICES (xvi)</a:t>
            </a:r>
          </a:p>
        </p:txBody>
      </p:sp>
      <p:sp>
        <p:nvSpPr>
          <p:cNvPr id="3" name="Content Placeholder 2">
            <a:extLst>
              <a:ext uri="{FF2B5EF4-FFF2-40B4-BE49-F238E27FC236}">
                <a16:creationId xmlns:a16="http://schemas.microsoft.com/office/drawing/2014/main" xmlns="" id="{91229445-A742-113C-1917-E75A781AFDDB}"/>
              </a:ext>
            </a:extLst>
          </p:cNvPr>
          <p:cNvSpPr>
            <a:spLocks noGrp="1"/>
          </p:cNvSpPr>
          <p:nvPr>
            <p:ph idx="1"/>
          </p:nvPr>
        </p:nvSpPr>
        <p:spPr/>
        <p:txBody>
          <a:bodyPr>
            <a:normAutofit/>
          </a:bodyPr>
          <a:lstStyle/>
          <a:p>
            <a:pPr marL="0" indent="0">
              <a:buNone/>
            </a:pPr>
            <a:r>
              <a:rPr lang="en-GB" sz="3200" b="1" dirty="0"/>
              <a:t>4. Exploitative Abuses: Unfair Pricing</a:t>
            </a:r>
          </a:p>
          <a:p>
            <a:pPr marL="0" indent="0">
              <a:buNone/>
            </a:pPr>
            <a:endParaRPr lang="en-GB" sz="800" dirty="0"/>
          </a:p>
          <a:p>
            <a:pPr fontAlgn="base"/>
            <a:r>
              <a:rPr lang="en-GB" dirty="0"/>
              <a:t>Excessive prices may be unfair by comparison:</a:t>
            </a:r>
          </a:p>
          <a:p>
            <a:pPr lvl="1" fontAlgn="base"/>
            <a:r>
              <a:rPr lang="en-GB" dirty="0"/>
              <a:t>A non-monopolised market: </a:t>
            </a:r>
            <a:r>
              <a:rPr lang="en-GB" i="1" dirty="0"/>
              <a:t>Bodson</a:t>
            </a:r>
          </a:p>
          <a:p>
            <a:pPr lvl="1" fontAlgn="base"/>
            <a:r>
              <a:rPr lang="en-GB" dirty="0"/>
              <a:t>A separate segment of the same market: </a:t>
            </a:r>
            <a:r>
              <a:rPr lang="en-GB" i="1" dirty="0"/>
              <a:t>Napp; Hydrocortisone</a:t>
            </a:r>
          </a:p>
          <a:p>
            <a:pPr lvl="1" fontAlgn="base"/>
            <a:r>
              <a:rPr lang="en-GB" dirty="0"/>
              <a:t>A separate but closely related product market: </a:t>
            </a:r>
            <a:r>
              <a:rPr lang="en-GB" i="1" dirty="0"/>
              <a:t>Phenytoin</a:t>
            </a:r>
            <a:endParaRPr lang="en-GB" dirty="0"/>
          </a:p>
          <a:p>
            <a:pPr lvl="1" fontAlgn="base"/>
            <a:r>
              <a:rPr lang="en-GB" dirty="0"/>
              <a:t>Another Member State: </a:t>
            </a:r>
            <a:r>
              <a:rPr lang="en-GB" i="1" dirty="0"/>
              <a:t>Ministère Public v Tourneau; AKKA/LAA</a:t>
            </a:r>
          </a:p>
          <a:p>
            <a:pPr lvl="1" fontAlgn="base"/>
            <a:r>
              <a:rPr lang="en-GB" dirty="0"/>
              <a:t>Another country outside the EU: </a:t>
            </a:r>
            <a:r>
              <a:rPr lang="en-GB" i="1" dirty="0"/>
              <a:t>MicroLeader </a:t>
            </a:r>
            <a:r>
              <a:rPr lang="en-GB" dirty="0"/>
              <a:t>(EEA v Canada)</a:t>
            </a:r>
          </a:p>
          <a:p>
            <a:pPr fontAlgn="base"/>
            <a:r>
              <a:rPr lang="en-GB" dirty="0"/>
              <a:t>How do you identify a valid comparator?</a:t>
            </a:r>
          </a:p>
        </p:txBody>
      </p:sp>
    </p:spTree>
    <p:extLst>
      <p:ext uri="{BB962C8B-B14F-4D97-AF65-F5344CB8AC3E}">
        <p14:creationId xmlns:p14="http://schemas.microsoft.com/office/powerpoint/2010/main" val="28871129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0ACF329-955E-C2EC-162E-F958157804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CF0828F1-4E85-F205-EE81-0F8895AE49B6}"/>
              </a:ext>
            </a:extLst>
          </p:cNvPr>
          <p:cNvSpPr>
            <a:spLocks noGrp="1"/>
          </p:cNvSpPr>
          <p:nvPr>
            <p:ph type="title"/>
          </p:nvPr>
        </p:nvSpPr>
        <p:spPr/>
        <p:txBody>
          <a:bodyPr/>
          <a:lstStyle/>
          <a:p>
            <a:r>
              <a:rPr lang="en-GB" b="1" dirty="0"/>
              <a:t>IV. GOVERNANCE  &amp; PROCEDURE (</a:t>
            </a:r>
            <a:r>
              <a:rPr lang="en-GB" b="1" dirty="0" err="1"/>
              <a:t>i</a:t>
            </a:r>
            <a:r>
              <a:rPr lang="en-GB" b="1" dirty="0"/>
              <a:t>)</a:t>
            </a:r>
          </a:p>
        </p:txBody>
      </p:sp>
      <p:sp>
        <p:nvSpPr>
          <p:cNvPr id="3" name="Content Placeholder 2">
            <a:extLst>
              <a:ext uri="{FF2B5EF4-FFF2-40B4-BE49-F238E27FC236}">
                <a16:creationId xmlns:a16="http://schemas.microsoft.com/office/drawing/2014/main" xmlns="" id="{45AC64A3-ACC8-D826-231D-BD4E824A92F5}"/>
              </a:ext>
            </a:extLst>
          </p:cNvPr>
          <p:cNvSpPr>
            <a:spLocks noGrp="1"/>
          </p:cNvSpPr>
          <p:nvPr>
            <p:ph idx="1"/>
          </p:nvPr>
        </p:nvSpPr>
        <p:spPr/>
        <p:txBody>
          <a:bodyPr>
            <a:normAutofit/>
          </a:bodyPr>
          <a:lstStyle/>
          <a:p>
            <a:pPr marL="0" indent="0">
              <a:buNone/>
            </a:pPr>
            <a:r>
              <a:rPr lang="en-GB" sz="3200" b="1" dirty="0"/>
              <a:t>1. Public &amp; Private Enforcement</a:t>
            </a:r>
          </a:p>
          <a:p>
            <a:pPr marL="0" indent="0">
              <a:buNone/>
            </a:pPr>
            <a:endParaRPr lang="en-GB" sz="800" dirty="0"/>
          </a:p>
          <a:p>
            <a:pPr fontAlgn="base"/>
            <a:r>
              <a:rPr lang="en-GB" dirty="0"/>
              <a:t>Both regimes need each other</a:t>
            </a:r>
          </a:p>
          <a:p>
            <a:pPr lvl="1" fontAlgn="base"/>
            <a:r>
              <a:rPr lang="en-GB" dirty="0"/>
              <a:t>Private actions can rely on decisions by competition authorities </a:t>
            </a:r>
          </a:p>
          <a:p>
            <a:pPr lvl="1" fontAlgn="base"/>
            <a:r>
              <a:rPr lang="en-GB" dirty="0"/>
              <a:t>Public bodies cannot investigate everything and can rely on private actions</a:t>
            </a:r>
          </a:p>
          <a:p>
            <a:pPr fontAlgn="base"/>
            <a:r>
              <a:rPr lang="en-GB" dirty="0"/>
              <a:t>They interact with one another</a:t>
            </a:r>
          </a:p>
          <a:p>
            <a:pPr lvl="1" fontAlgn="base"/>
            <a:r>
              <a:rPr lang="en-GB" dirty="0"/>
              <a:t>Private litigants often want access to the evidence gathered by competition authorities </a:t>
            </a:r>
          </a:p>
          <a:p>
            <a:pPr lvl="1" fontAlgn="base"/>
            <a:r>
              <a:rPr lang="en-GB" dirty="0"/>
              <a:t>Competition authorities want to facilitate private enforcement without endangering firms’ willingness to come forward and cooperate: leniency!</a:t>
            </a:r>
          </a:p>
          <a:p>
            <a:pPr lvl="1" fontAlgn="base"/>
            <a:endParaRPr lang="en-GB" dirty="0"/>
          </a:p>
        </p:txBody>
      </p:sp>
    </p:spTree>
    <p:extLst>
      <p:ext uri="{BB962C8B-B14F-4D97-AF65-F5344CB8AC3E}">
        <p14:creationId xmlns:p14="http://schemas.microsoft.com/office/powerpoint/2010/main" val="2538987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3FE1A59-7FAE-F7F8-C815-8EFE1201D2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B5F813BE-754D-AE2C-A872-EF15CD3180E8}"/>
              </a:ext>
            </a:extLst>
          </p:cNvPr>
          <p:cNvSpPr>
            <a:spLocks noGrp="1"/>
          </p:cNvSpPr>
          <p:nvPr>
            <p:ph type="title"/>
          </p:nvPr>
        </p:nvSpPr>
        <p:spPr/>
        <p:txBody>
          <a:bodyPr/>
          <a:lstStyle/>
          <a:p>
            <a:r>
              <a:rPr lang="en-GB" b="1" dirty="0"/>
              <a:t>IV. GOVERNANCE &amp; PROCEDURE (ii)</a:t>
            </a:r>
          </a:p>
        </p:txBody>
      </p:sp>
      <p:sp>
        <p:nvSpPr>
          <p:cNvPr id="3" name="Content Placeholder 2">
            <a:extLst>
              <a:ext uri="{FF2B5EF4-FFF2-40B4-BE49-F238E27FC236}">
                <a16:creationId xmlns:a16="http://schemas.microsoft.com/office/drawing/2014/main" xmlns="" id="{C0A4798F-9FF9-7ADD-68BF-E60B3272C8EF}"/>
              </a:ext>
            </a:extLst>
          </p:cNvPr>
          <p:cNvSpPr>
            <a:spLocks noGrp="1"/>
          </p:cNvSpPr>
          <p:nvPr>
            <p:ph idx="1"/>
          </p:nvPr>
        </p:nvSpPr>
        <p:spPr/>
        <p:txBody>
          <a:bodyPr>
            <a:normAutofit/>
          </a:bodyPr>
          <a:lstStyle/>
          <a:p>
            <a:pPr marL="0" indent="0">
              <a:buNone/>
            </a:pPr>
            <a:r>
              <a:rPr lang="en-GB" sz="3200" b="1" dirty="0"/>
              <a:t>1. Public &amp; Private Enforcement </a:t>
            </a:r>
          </a:p>
          <a:p>
            <a:pPr marL="0" indent="0">
              <a:buNone/>
            </a:pPr>
            <a:endParaRPr lang="en-GB" sz="800" dirty="0"/>
          </a:p>
          <a:p>
            <a:pPr fontAlgn="base"/>
            <a:r>
              <a:rPr lang="en-GB" dirty="0"/>
              <a:t>Need to consider:</a:t>
            </a:r>
          </a:p>
          <a:p>
            <a:pPr lvl="1" fontAlgn="base"/>
            <a:r>
              <a:rPr lang="en-GB" dirty="0"/>
              <a:t>Whether to make decisions binding on courts and parties in private actions</a:t>
            </a:r>
          </a:p>
          <a:p>
            <a:pPr lvl="1" fontAlgn="base"/>
            <a:r>
              <a:rPr lang="en-GB" dirty="0"/>
              <a:t>Whether to protect leniency statements from disclosure in private actions</a:t>
            </a:r>
          </a:p>
          <a:p>
            <a:pPr lvl="1" fontAlgn="base"/>
            <a:r>
              <a:rPr lang="en-GB" dirty="0"/>
              <a:t>Whether to protect settlement submissions from disclosure</a:t>
            </a:r>
          </a:p>
          <a:p>
            <a:pPr lvl="1" fontAlgn="base"/>
            <a:r>
              <a:rPr lang="en-GB" dirty="0"/>
              <a:t>Whether to allow private litigants access to the authority’s case file</a:t>
            </a:r>
          </a:p>
          <a:p>
            <a:pPr lvl="1" fontAlgn="base"/>
            <a:r>
              <a:rPr lang="en-GB" dirty="0"/>
              <a:t>Whether a competition authority should be permitted to intervene in private cases</a:t>
            </a:r>
          </a:p>
          <a:p>
            <a:pPr lvl="1" fontAlgn="base"/>
            <a:r>
              <a:rPr lang="en-GB" dirty="0"/>
              <a:t>Whether a competition authority should be able to require redress</a:t>
            </a:r>
          </a:p>
          <a:p>
            <a:pPr lvl="1" fontAlgn="base"/>
            <a:endParaRPr lang="en-GB" dirty="0"/>
          </a:p>
        </p:txBody>
      </p:sp>
    </p:spTree>
    <p:extLst>
      <p:ext uri="{BB962C8B-B14F-4D97-AF65-F5344CB8AC3E}">
        <p14:creationId xmlns:p14="http://schemas.microsoft.com/office/powerpoint/2010/main" val="36169266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260D2D8-6205-68C0-FE63-FB090FF8FA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83B717B1-27AA-3200-C8AF-F17C7FBDE4E5}"/>
              </a:ext>
            </a:extLst>
          </p:cNvPr>
          <p:cNvSpPr>
            <a:spLocks noGrp="1"/>
          </p:cNvSpPr>
          <p:nvPr>
            <p:ph type="title"/>
          </p:nvPr>
        </p:nvSpPr>
        <p:spPr/>
        <p:txBody>
          <a:bodyPr/>
          <a:lstStyle/>
          <a:p>
            <a:r>
              <a:rPr lang="en-GB" b="1" dirty="0"/>
              <a:t>IV. GOVERNANCE &amp; PROCEDURE (iii) </a:t>
            </a:r>
          </a:p>
        </p:txBody>
      </p:sp>
      <p:sp>
        <p:nvSpPr>
          <p:cNvPr id="3" name="Content Placeholder 2">
            <a:extLst>
              <a:ext uri="{FF2B5EF4-FFF2-40B4-BE49-F238E27FC236}">
                <a16:creationId xmlns:a16="http://schemas.microsoft.com/office/drawing/2014/main" xmlns="" id="{2EF4A064-5CAB-6833-4A22-859BD19A0D84}"/>
              </a:ext>
            </a:extLst>
          </p:cNvPr>
          <p:cNvSpPr>
            <a:spLocks noGrp="1"/>
          </p:cNvSpPr>
          <p:nvPr>
            <p:ph idx="1"/>
          </p:nvPr>
        </p:nvSpPr>
        <p:spPr/>
        <p:txBody>
          <a:bodyPr>
            <a:normAutofit/>
          </a:bodyPr>
          <a:lstStyle/>
          <a:p>
            <a:pPr marL="0" indent="0">
              <a:buNone/>
            </a:pPr>
            <a:r>
              <a:rPr lang="en-GB" sz="3200" b="1" dirty="0"/>
              <a:t>2. Burden and Standard of Proof</a:t>
            </a:r>
          </a:p>
          <a:p>
            <a:pPr marL="0" indent="0">
              <a:buNone/>
            </a:pPr>
            <a:endParaRPr lang="en-GB" sz="800" dirty="0"/>
          </a:p>
          <a:p>
            <a:pPr fontAlgn="base"/>
            <a:r>
              <a:rPr lang="en-GB" dirty="0"/>
              <a:t>The </a:t>
            </a:r>
            <a:r>
              <a:rPr lang="en-GB" dirty="0">
                <a:solidFill>
                  <a:srgbClr val="FF0000"/>
                </a:solidFill>
              </a:rPr>
              <a:t>legal</a:t>
            </a:r>
            <a:r>
              <a:rPr lang="en-GB" i="1" dirty="0">
                <a:solidFill>
                  <a:srgbClr val="FF0000"/>
                </a:solidFill>
              </a:rPr>
              <a:t> </a:t>
            </a:r>
            <a:r>
              <a:rPr lang="en-GB" dirty="0">
                <a:solidFill>
                  <a:srgbClr val="FF0000"/>
                </a:solidFill>
              </a:rPr>
              <a:t>burden of proving the infringement </a:t>
            </a:r>
            <a:r>
              <a:rPr lang="en-GB" dirty="0"/>
              <a:t>is on the person alleging the infringement of competition law</a:t>
            </a:r>
          </a:p>
          <a:p>
            <a:pPr fontAlgn="base"/>
            <a:r>
              <a:rPr lang="en-GB" dirty="0"/>
              <a:t>The </a:t>
            </a:r>
            <a:r>
              <a:rPr lang="en-GB" dirty="0">
                <a:solidFill>
                  <a:srgbClr val="FF0000"/>
                </a:solidFill>
              </a:rPr>
              <a:t>legal burden of defending </a:t>
            </a:r>
            <a:r>
              <a:rPr lang="en-GB" dirty="0"/>
              <a:t>an anti-competitive agreement or conduct on efficiency grounds is on the party to the agreement or engaging in the conduct</a:t>
            </a:r>
          </a:p>
          <a:p>
            <a:pPr fontAlgn="base"/>
            <a:r>
              <a:rPr lang="en-GB" dirty="0"/>
              <a:t>The </a:t>
            </a:r>
            <a:r>
              <a:rPr lang="en-GB" dirty="0">
                <a:solidFill>
                  <a:srgbClr val="FF0000"/>
                </a:solidFill>
              </a:rPr>
              <a:t>evidential</a:t>
            </a:r>
            <a:r>
              <a:rPr lang="en-GB" i="1" dirty="0">
                <a:solidFill>
                  <a:srgbClr val="FF0000"/>
                </a:solidFill>
              </a:rPr>
              <a:t> </a:t>
            </a:r>
            <a:r>
              <a:rPr lang="en-GB" dirty="0">
                <a:solidFill>
                  <a:srgbClr val="FF0000"/>
                </a:solidFill>
              </a:rPr>
              <a:t>burden </a:t>
            </a:r>
            <a:r>
              <a:rPr lang="en-GB" dirty="0"/>
              <a:t>of demonstrating that an event happened is on the person advancing the assertion: he or she who asserts must prove</a:t>
            </a:r>
          </a:p>
          <a:p>
            <a:pPr lvl="1" fontAlgn="base"/>
            <a:endParaRPr lang="en-GB" dirty="0"/>
          </a:p>
        </p:txBody>
      </p:sp>
    </p:spTree>
    <p:extLst>
      <p:ext uri="{BB962C8B-B14F-4D97-AF65-F5344CB8AC3E}">
        <p14:creationId xmlns:p14="http://schemas.microsoft.com/office/powerpoint/2010/main" val="32558008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5052231-B79C-B321-08CD-3404246542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B90ED6D7-4C5B-041B-9D2F-FB08B3983CDA}"/>
              </a:ext>
            </a:extLst>
          </p:cNvPr>
          <p:cNvSpPr>
            <a:spLocks noGrp="1"/>
          </p:cNvSpPr>
          <p:nvPr>
            <p:ph type="title"/>
          </p:nvPr>
        </p:nvSpPr>
        <p:spPr/>
        <p:txBody>
          <a:bodyPr/>
          <a:lstStyle/>
          <a:p>
            <a:r>
              <a:rPr lang="en-GB" b="1" dirty="0"/>
              <a:t>IV. GOVERNANCE &amp; PROCEDURE (iv)</a:t>
            </a:r>
          </a:p>
        </p:txBody>
      </p:sp>
      <p:sp>
        <p:nvSpPr>
          <p:cNvPr id="3" name="Content Placeholder 2">
            <a:extLst>
              <a:ext uri="{FF2B5EF4-FFF2-40B4-BE49-F238E27FC236}">
                <a16:creationId xmlns:a16="http://schemas.microsoft.com/office/drawing/2014/main" xmlns="" id="{C2765615-7204-D5C9-257C-A99FCC442C0A}"/>
              </a:ext>
            </a:extLst>
          </p:cNvPr>
          <p:cNvSpPr>
            <a:spLocks noGrp="1"/>
          </p:cNvSpPr>
          <p:nvPr>
            <p:ph idx="1"/>
          </p:nvPr>
        </p:nvSpPr>
        <p:spPr/>
        <p:txBody>
          <a:bodyPr>
            <a:normAutofit lnSpcReduction="10000"/>
          </a:bodyPr>
          <a:lstStyle/>
          <a:p>
            <a:pPr marL="0" indent="0">
              <a:buNone/>
            </a:pPr>
            <a:r>
              <a:rPr lang="en-GB" sz="3200" b="1" dirty="0"/>
              <a:t>3. Role of Presumptions</a:t>
            </a:r>
          </a:p>
          <a:p>
            <a:pPr marL="0" indent="0">
              <a:buNone/>
            </a:pPr>
            <a:endParaRPr lang="en-GB" sz="800" dirty="0"/>
          </a:p>
          <a:p>
            <a:pPr fontAlgn="base"/>
            <a:r>
              <a:rPr lang="en-GB" dirty="0"/>
              <a:t>There are lots of presumptions in competition law!</a:t>
            </a:r>
          </a:p>
          <a:p>
            <a:pPr lvl="1" fontAlgn="base"/>
            <a:r>
              <a:rPr lang="en-GB" dirty="0"/>
              <a:t>Presumption of innocence</a:t>
            </a:r>
          </a:p>
          <a:p>
            <a:pPr lvl="1" fontAlgn="base"/>
            <a:r>
              <a:rPr lang="en-GB" dirty="0"/>
              <a:t>Presumption of dominance from market shares &gt; 50%</a:t>
            </a:r>
          </a:p>
          <a:p>
            <a:pPr lvl="1" fontAlgn="base"/>
            <a:r>
              <a:rPr lang="en-GB" dirty="0"/>
              <a:t>Presumption that sales below average variable/avoidable costs are abusive</a:t>
            </a:r>
          </a:p>
          <a:p>
            <a:pPr lvl="1" fontAlgn="base"/>
            <a:r>
              <a:rPr lang="en-GB" dirty="0"/>
              <a:t>Presumption that a firm participated in a cartel if it attended a cartel meeting</a:t>
            </a:r>
          </a:p>
          <a:p>
            <a:pPr lvl="1" fontAlgn="base"/>
            <a:r>
              <a:rPr lang="en-GB" dirty="0"/>
              <a:t>Presumption that a firm that owns 100% of the issued share capital or voting rights in another firm controls the latter</a:t>
            </a:r>
          </a:p>
          <a:p>
            <a:pPr fontAlgn="base"/>
            <a:r>
              <a:rPr lang="en-GB" dirty="0"/>
              <a:t>Presumptions of this kind reflect inferences that can normally be drawn from the evidence</a:t>
            </a:r>
          </a:p>
        </p:txBody>
      </p:sp>
    </p:spTree>
    <p:extLst>
      <p:ext uri="{BB962C8B-B14F-4D97-AF65-F5344CB8AC3E}">
        <p14:creationId xmlns:p14="http://schemas.microsoft.com/office/powerpoint/2010/main" val="21144369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7FACB11-9A10-FB27-B0CC-8548152026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771BD3EC-9FAD-B187-E24F-2883417A0C6E}"/>
              </a:ext>
            </a:extLst>
          </p:cNvPr>
          <p:cNvSpPr>
            <a:spLocks noGrp="1"/>
          </p:cNvSpPr>
          <p:nvPr>
            <p:ph type="title"/>
          </p:nvPr>
        </p:nvSpPr>
        <p:spPr/>
        <p:txBody>
          <a:bodyPr/>
          <a:lstStyle/>
          <a:p>
            <a:r>
              <a:rPr lang="en-GB" b="1" dirty="0"/>
              <a:t>IV. GOVERNANCE &amp; PROCEDURE (v)</a:t>
            </a:r>
          </a:p>
        </p:txBody>
      </p:sp>
      <p:sp>
        <p:nvSpPr>
          <p:cNvPr id="3" name="Content Placeholder 2">
            <a:extLst>
              <a:ext uri="{FF2B5EF4-FFF2-40B4-BE49-F238E27FC236}">
                <a16:creationId xmlns:a16="http://schemas.microsoft.com/office/drawing/2014/main" xmlns="" id="{927A0466-5868-AF30-E327-CEC85EF37111}"/>
              </a:ext>
            </a:extLst>
          </p:cNvPr>
          <p:cNvSpPr>
            <a:spLocks noGrp="1"/>
          </p:cNvSpPr>
          <p:nvPr>
            <p:ph idx="1"/>
          </p:nvPr>
        </p:nvSpPr>
        <p:spPr/>
        <p:txBody>
          <a:bodyPr>
            <a:normAutofit/>
          </a:bodyPr>
          <a:lstStyle/>
          <a:p>
            <a:pPr marL="0" indent="0">
              <a:buNone/>
            </a:pPr>
            <a:r>
              <a:rPr lang="en-GB" sz="3200" b="1" dirty="0"/>
              <a:t>3. Role of Presumptions</a:t>
            </a:r>
          </a:p>
          <a:p>
            <a:pPr marL="0" indent="0">
              <a:buNone/>
            </a:pPr>
            <a:endParaRPr lang="en-GB" sz="800" dirty="0"/>
          </a:p>
          <a:p>
            <a:pPr fontAlgn="base"/>
            <a:r>
              <a:rPr lang="en-GB" dirty="0"/>
              <a:t>Presumptions are used for the purposes of jurisdiction, procedure, evidence, substance or enforcement</a:t>
            </a:r>
          </a:p>
          <a:p>
            <a:pPr fontAlgn="base"/>
            <a:r>
              <a:rPr lang="en-GB" dirty="0"/>
              <a:t>Presumptions are normally rebuttable by adducing evidence</a:t>
            </a:r>
          </a:p>
          <a:p>
            <a:pPr fontAlgn="base"/>
            <a:r>
              <a:rPr lang="en-GB" dirty="0"/>
              <a:t>Presumptions do not normally reverse the legal burden of proof</a:t>
            </a:r>
          </a:p>
          <a:p>
            <a:pPr fontAlgn="base"/>
            <a:r>
              <a:rPr lang="en-GB" dirty="0"/>
              <a:t>See the OECD roundtables on legal presumptions and safe harbours in 2017 and structural presumptions in 2024</a:t>
            </a:r>
          </a:p>
        </p:txBody>
      </p:sp>
    </p:spTree>
    <p:extLst>
      <p:ext uri="{BB962C8B-B14F-4D97-AF65-F5344CB8AC3E}">
        <p14:creationId xmlns:p14="http://schemas.microsoft.com/office/powerpoint/2010/main" val="7440872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8FF5933-EC91-8425-B2AE-967D70695B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D996428B-459B-12DE-9649-9AA9FEC50F63}"/>
              </a:ext>
            </a:extLst>
          </p:cNvPr>
          <p:cNvSpPr>
            <a:spLocks noGrp="1"/>
          </p:cNvSpPr>
          <p:nvPr>
            <p:ph type="title"/>
          </p:nvPr>
        </p:nvSpPr>
        <p:spPr/>
        <p:txBody>
          <a:bodyPr/>
          <a:lstStyle/>
          <a:p>
            <a:r>
              <a:rPr lang="en-GB" b="1" dirty="0"/>
              <a:t>IV. GOVERNANCE &amp; PROCEDURE (vi)</a:t>
            </a:r>
          </a:p>
        </p:txBody>
      </p:sp>
      <p:sp>
        <p:nvSpPr>
          <p:cNvPr id="3" name="Content Placeholder 2">
            <a:extLst>
              <a:ext uri="{FF2B5EF4-FFF2-40B4-BE49-F238E27FC236}">
                <a16:creationId xmlns:a16="http://schemas.microsoft.com/office/drawing/2014/main" xmlns="" id="{B4C997F4-D89C-AEB3-173A-BDA43A93F53B}"/>
              </a:ext>
            </a:extLst>
          </p:cNvPr>
          <p:cNvSpPr>
            <a:spLocks noGrp="1"/>
          </p:cNvSpPr>
          <p:nvPr>
            <p:ph idx="1"/>
          </p:nvPr>
        </p:nvSpPr>
        <p:spPr>
          <a:xfrm>
            <a:off x="838199" y="1825625"/>
            <a:ext cx="10989623" cy="4351338"/>
          </a:xfrm>
        </p:spPr>
        <p:txBody>
          <a:bodyPr>
            <a:normAutofit fontScale="85000" lnSpcReduction="20000"/>
          </a:bodyPr>
          <a:lstStyle/>
          <a:p>
            <a:pPr marL="0" indent="0">
              <a:buNone/>
            </a:pPr>
            <a:r>
              <a:rPr lang="en-GB" sz="3200" b="1" dirty="0"/>
              <a:t>4. Competition vs. Regulation </a:t>
            </a:r>
          </a:p>
          <a:p>
            <a:pPr marL="0" indent="0">
              <a:buNone/>
            </a:pPr>
            <a:endParaRPr lang="en-GB" sz="800" dirty="0"/>
          </a:p>
          <a:p>
            <a:pPr fontAlgn="base"/>
            <a:r>
              <a:rPr lang="en-GB" dirty="0"/>
              <a:t>Currently the ascendancy of one legal regime over another or the manner in which they relate to one another, is the subject of some controversy</a:t>
            </a:r>
          </a:p>
          <a:p>
            <a:pPr fontAlgn="base"/>
            <a:r>
              <a:rPr lang="en-GB" dirty="0"/>
              <a:t>Generally understood that competition policy (</a:t>
            </a:r>
            <a:r>
              <a:rPr lang="en-GB" i="1" dirty="0"/>
              <a:t>ex post</a:t>
            </a:r>
            <a:r>
              <a:rPr lang="en-GB" dirty="0"/>
              <a:t>) addresses fact-specific anti-competitive acts, while sector-specific regulation (</a:t>
            </a:r>
            <a:r>
              <a:rPr lang="en-GB" i="1" dirty="0"/>
              <a:t>ex ante</a:t>
            </a:r>
            <a:r>
              <a:rPr lang="en-GB" dirty="0"/>
              <a:t>) addresses various forms of “market failure” generated by market structure or the dynamics of certain sectors </a:t>
            </a:r>
          </a:p>
          <a:p>
            <a:pPr fontAlgn="base"/>
            <a:r>
              <a:rPr lang="en-GB" dirty="0"/>
              <a:t>Important to develop clear lines of demarcation between the reach of the two disciplines or establish clear means by which they can contribute to one another’s more effective application (important to avoid “double jeopardy”)</a:t>
            </a:r>
          </a:p>
          <a:p>
            <a:pPr fontAlgn="base"/>
            <a:r>
              <a:rPr lang="en-GB" dirty="0"/>
              <a:t>The concentration of cross-sectoral regulatory powers, or regulatory and competition powers together, has its supporters and detractors, but there is no “one size fits all” solution for every jurisdiction </a:t>
            </a:r>
          </a:p>
        </p:txBody>
      </p:sp>
    </p:spTree>
    <p:extLst>
      <p:ext uri="{BB962C8B-B14F-4D97-AF65-F5344CB8AC3E}">
        <p14:creationId xmlns:p14="http://schemas.microsoft.com/office/powerpoint/2010/main" val="19525256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9EE5228-4A13-61CB-289E-D739C6B29B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932219FC-AF31-4BA8-DA3F-8759288637DD}"/>
              </a:ext>
            </a:extLst>
          </p:cNvPr>
          <p:cNvSpPr>
            <a:spLocks noGrp="1"/>
          </p:cNvSpPr>
          <p:nvPr>
            <p:ph type="title"/>
          </p:nvPr>
        </p:nvSpPr>
        <p:spPr/>
        <p:txBody>
          <a:bodyPr/>
          <a:lstStyle/>
          <a:p>
            <a:r>
              <a:rPr lang="en-GB" b="1" dirty="0"/>
              <a:t>IV. GOVERNANCE &amp; PROCEDURE (vii)</a:t>
            </a:r>
          </a:p>
        </p:txBody>
      </p:sp>
      <p:sp>
        <p:nvSpPr>
          <p:cNvPr id="3" name="Content Placeholder 2">
            <a:extLst>
              <a:ext uri="{FF2B5EF4-FFF2-40B4-BE49-F238E27FC236}">
                <a16:creationId xmlns:a16="http://schemas.microsoft.com/office/drawing/2014/main" xmlns="" id="{5DE1C1F6-70A1-ED0E-9E05-BD8C874B38C1}"/>
              </a:ext>
            </a:extLst>
          </p:cNvPr>
          <p:cNvSpPr>
            <a:spLocks noGrp="1"/>
          </p:cNvSpPr>
          <p:nvPr>
            <p:ph idx="1"/>
          </p:nvPr>
        </p:nvSpPr>
        <p:spPr>
          <a:xfrm>
            <a:off x="838199" y="1799121"/>
            <a:ext cx="10989623" cy="4351338"/>
          </a:xfrm>
        </p:spPr>
        <p:txBody>
          <a:bodyPr>
            <a:normAutofit fontScale="62500" lnSpcReduction="20000"/>
          </a:bodyPr>
          <a:lstStyle/>
          <a:p>
            <a:pPr marL="0" indent="0">
              <a:buNone/>
            </a:pPr>
            <a:r>
              <a:rPr lang="en-GB" sz="4500" b="1" dirty="0"/>
              <a:t>5. Institutional Cooperation  </a:t>
            </a:r>
          </a:p>
          <a:p>
            <a:pPr marL="0" indent="0">
              <a:buNone/>
            </a:pPr>
            <a:endParaRPr lang="en-GB" sz="800" dirty="0"/>
          </a:p>
          <a:p>
            <a:pPr fontAlgn="base"/>
            <a:r>
              <a:rPr lang="en-GB" dirty="0"/>
              <a:t>Critical to have effective cooperation and consultation mechanisms in place between sectoral regulators and the National Competition Authority. Participation on regional and international bodies is essential in maintaining the right balance between keeping up to date with modern enforcement techniques, avoiding enforcement overlaps and sharing costs for investigations into certain sectors to develop  benchmarking techniques and identify “best practices”</a:t>
            </a:r>
          </a:p>
          <a:p>
            <a:pPr fontAlgn="base"/>
            <a:r>
              <a:rPr lang="en-GB" dirty="0"/>
              <a:t>Cross-fertilisation of knowledge is critical to improve capabilities of respective institutions and to cut costs in terms of avoiding the unnecessary duplication of tasks</a:t>
            </a:r>
          </a:p>
          <a:p>
            <a:pPr fontAlgn="base"/>
            <a:r>
              <a:rPr lang="en-GB" dirty="0"/>
              <a:t>Maintaining an adequate budget to be able to take advantage of enforcement networks and fostering continuing education is critical to maintaining independence and effectiveness</a:t>
            </a:r>
          </a:p>
          <a:p>
            <a:pPr fontAlgn="base"/>
            <a:r>
              <a:rPr lang="en-GB" dirty="0"/>
              <a:t>Capacity building is essential to ensure that the Competition Authority is well resourced and is capable of attracting the right level of expertise. This effort also requires the appropriate IT and AI tools to facilitate detection and to monitor compliance</a:t>
            </a:r>
          </a:p>
          <a:p>
            <a:pPr fontAlgn="base"/>
            <a:r>
              <a:rPr lang="en-GB" dirty="0"/>
              <a:t>There should be clear lines of demarcation between independence in decision-making on competition law grounds and the pursuit of broader non-competition goals consistent with transparent government policy </a:t>
            </a:r>
          </a:p>
          <a:p>
            <a:pPr fontAlgn="base"/>
            <a:endParaRPr lang="en-GB" dirty="0"/>
          </a:p>
        </p:txBody>
      </p:sp>
    </p:spTree>
    <p:extLst>
      <p:ext uri="{BB962C8B-B14F-4D97-AF65-F5344CB8AC3E}">
        <p14:creationId xmlns:p14="http://schemas.microsoft.com/office/powerpoint/2010/main" val="32102559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B5D0972-5697-A2ED-7F6F-EF9C84A75A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081445FA-BAB1-9A08-2B73-22019866BC45}"/>
              </a:ext>
            </a:extLst>
          </p:cNvPr>
          <p:cNvSpPr>
            <a:spLocks noGrp="1"/>
          </p:cNvSpPr>
          <p:nvPr>
            <p:ph type="title"/>
          </p:nvPr>
        </p:nvSpPr>
        <p:spPr/>
        <p:txBody>
          <a:bodyPr/>
          <a:lstStyle/>
          <a:p>
            <a:r>
              <a:rPr lang="en-GB" b="1" dirty="0"/>
              <a:t>V. STATE ENTITIES (</a:t>
            </a:r>
            <a:r>
              <a:rPr lang="en-GB" b="1" dirty="0" err="1"/>
              <a:t>i</a:t>
            </a:r>
            <a:r>
              <a:rPr lang="en-GB" b="1" dirty="0"/>
              <a:t>)</a:t>
            </a:r>
          </a:p>
        </p:txBody>
      </p:sp>
      <p:sp>
        <p:nvSpPr>
          <p:cNvPr id="3" name="Content Placeholder 2">
            <a:extLst>
              <a:ext uri="{FF2B5EF4-FFF2-40B4-BE49-F238E27FC236}">
                <a16:creationId xmlns:a16="http://schemas.microsoft.com/office/drawing/2014/main" xmlns="" id="{B2819329-87F1-64CC-7F0D-07ABDA7838D2}"/>
              </a:ext>
            </a:extLst>
          </p:cNvPr>
          <p:cNvSpPr>
            <a:spLocks noGrp="1"/>
          </p:cNvSpPr>
          <p:nvPr>
            <p:ph idx="1"/>
          </p:nvPr>
        </p:nvSpPr>
        <p:spPr>
          <a:xfrm>
            <a:off x="838199" y="1799121"/>
            <a:ext cx="10989623" cy="4351338"/>
          </a:xfrm>
        </p:spPr>
        <p:txBody>
          <a:bodyPr>
            <a:normAutofit/>
          </a:bodyPr>
          <a:lstStyle/>
          <a:p>
            <a:pPr marL="0" indent="0">
              <a:buNone/>
            </a:pPr>
            <a:r>
              <a:rPr lang="en-GB" sz="3200" b="1" dirty="0"/>
              <a:t>1. Disciplining State Entities</a:t>
            </a:r>
          </a:p>
          <a:p>
            <a:pPr marL="0" indent="0">
              <a:buNone/>
            </a:pPr>
            <a:endParaRPr lang="en-GB" sz="800" dirty="0"/>
          </a:p>
          <a:p>
            <a:pPr fontAlgn="base">
              <a:buFont typeface="Wingdings" pitchFamily="2" charset="2"/>
              <a:buChar char="Ø"/>
            </a:pPr>
            <a:r>
              <a:rPr lang="en-GB" dirty="0"/>
              <a:t>Unique European provision subjecting State-controlled companies or those upon whom “</a:t>
            </a:r>
            <a:r>
              <a:rPr lang="en-GB" b="1" dirty="0"/>
              <a:t>special or exclusive rights</a:t>
            </a:r>
            <a:r>
              <a:rPr lang="en-GB" dirty="0"/>
              <a:t>” have been conferred to respect competition rules (Article 106 TFEU)</a:t>
            </a:r>
          </a:p>
          <a:p>
            <a:pPr fontAlgn="base">
              <a:buFont typeface="Wingdings" pitchFamily="2" charset="2"/>
              <a:buChar char="Ø"/>
            </a:pPr>
            <a:r>
              <a:rPr lang="en-GB" dirty="0"/>
              <a:t>Actions of such entities lie outside the scope of competition rules where they are responsible for performing clearly defined </a:t>
            </a:r>
            <a:r>
              <a:rPr lang="en-GB" b="1" dirty="0"/>
              <a:t>Services of General Economic Interest</a:t>
            </a:r>
            <a:r>
              <a:rPr lang="en-GB" dirty="0"/>
              <a:t> for the benefit of the general public </a:t>
            </a:r>
          </a:p>
          <a:p>
            <a:pPr fontAlgn="base">
              <a:buFont typeface="Wingdings" pitchFamily="2" charset="2"/>
              <a:buChar char="Ø"/>
            </a:pPr>
            <a:r>
              <a:rPr lang="en-GB" dirty="0"/>
              <a:t>The intervention can be quicker and more comprehensive than actions taken against private firms under general competition rules</a:t>
            </a:r>
          </a:p>
          <a:p>
            <a:pPr fontAlgn="base"/>
            <a:endParaRPr lang="en-GB" dirty="0"/>
          </a:p>
        </p:txBody>
      </p:sp>
    </p:spTree>
    <p:extLst>
      <p:ext uri="{BB962C8B-B14F-4D97-AF65-F5344CB8AC3E}">
        <p14:creationId xmlns:p14="http://schemas.microsoft.com/office/powerpoint/2010/main" val="17047110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03A03E9-BDFC-8765-5EA8-C4B0A02650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E41AC20C-580E-2AA2-DB4A-868B9EB7D74A}"/>
              </a:ext>
            </a:extLst>
          </p:cNvPr>
          <p:cNvSpPr>
            <a:spLocks noGrp="1"/>
          </p:cNvSpPr>
          <p:nvPr>
            <p:ph type="title"/>
          </p:nvPr>
        </p:nvSpPr>
        <p:spPr/>
        <p:txBody>
          <a:bodyPr/>
          <a:lstStyle/>
          <a:p>
            <a:r>
              <a:rPr lang="en-GB" b="1" dirty="0"/>
              <a:t>V. STATE ENTITIES (ii)</a:t>
            </a:r>
          </a:p>
        </p:txBody>
      </p:sp>
      <p:sp>
        <p:nvSpPr>
          <p:cNvPr id="3" name="Content Placeholder 2">
            <a:extLst>
              <a:ext uri="{FF2B5EF4-FFF2-40B4-BE49-F238E27FC236}">
                <a16:creationId xmlns:a16="http://schemas.microsoft.com/office/drawing/2014/main" xmlns="" id="{B429AD42-A543-C4CE-FAF9-DE79C12B751D}"/>
              </a:ext>
            </a:extLst>
          </p:cNvPr>
          <p:cNvSpPr>
            <a:spLocks noGrp="1"/>
          </p:cNvSpPr>
          <p:nvPr>
            <p:ph idx="1"/>
          </p:nvPr>
        </p:nvSpPr>
        <p:spPr>
          <a:xfrm>
            <a:off x="838199" y="1759365"/>
            <a:ext cx="10989623" cy="4351338"/>
          </a:xfrm>
        </p:spPr>
        <p:txBody>
          <a:bodyPr>
            <a:normAutofit fontScale="85000" lnSpcReduction="10000"/>
          </a:bodyPr>
          <a:lstStyle/>
          <a:p>
            <a:pPr marL="0" indent="0">
              <a:buNone/>
            </a:pPr>
            <a:r>
              <a:rPr lang="en-GB" sz="3200" b="1" dirty="0"/>
              <a:t>2. Regulating State Subsidies </a:t>
            </a:r>
          </a:p>
          <a:p>
            <a:pPr marL="0" indent="0">
              <a:buNone/>
            </a:pPr>
            <a:endParaRPr lang="en-GB" sz="800" dirty="0"/>
          </a:p>
          <a:p>
            <a:pPr fontAlgn="base">
              <a:buFont typeface="Wingdings" pitchFamily="2" charset="2"/>
              <a:buChar char="Ø"/>
            </a:pPr>
            <a:r>
              <a:rPr lang="en-GB" dirty="0"/>
              <a:t>Within the European Union, a unique system applies which prohibits markets being distorted by any form of State subsidy (“</a:t>
            </a:r>
            <a:r>
              <a:rPr lang="en-GB" b="1" dirty="0"/>
              <a:t>State Aid</a:t>
            </a:r>
            <a:r>
              <a:rPr lang="en-GB" dirty="0"/>
              <a:t>”) which satisfies the following characteristics:</a:t>
            </a:r>
          </a:p>
          <a:p>
            <a:pPr fontAlgn="base">
              <a:buFont typeface="Courier New" panose="02070309020205020404" pitchFamily="49" charset="0"/>
              <a:buChar char="o"/>
            </a:pPr>
            <a:r>
              <a:rPr lang="en-GB" dirty="0"/>
              <a:t> its grant is </a:t>
            </a:r>
            <a:r>
              <a:rPr lang="en-GB" b="1" dirty="0"/>
              <a:t>imputable to the State </a:t>
            </a:r>
            <a:r>
              <a:rPr lang="en-GB" dirty="0"/>
              <a:t>and is </a:t>
            </a:r>
            <a:r>
              <a:rPr lang="en-GB" b="1" dirty="0"/>
              <a:t>funded through State resources;</a:t>
            </a:r>
          </a:p>
          <a:p>
            <a:pPr fontAlgn="base">
              <a:buFont typeface="Courier New" panose="02070309020205020404" pitchFamily="49" charset="0"/>
              <a:buChar char="o"/>
            </a:pPr>
            <a:r>
              <a:rPr lang="en-GB" dirty="0"/>
              <a:t> it confers a </a:t>
            </a:r>
            <a:r>
              <a:rPr lang="en-GB" b="1" dirty="0"/>
              <a:t>selective economic advantage </a:t>
            </a:r>
            <a:r>
              <a:rPr lang="en-GB" dirty="0"/>
              <a:t>to one or more economic entities;</a:t>
            </a:r>
          </a:p>
          <a:p>
            <a:pPr fontAlgn="base">
              <a:buFont typeface="Courier New" panose="02070309020205020404" pitchFamily="49" charset="0"/>
              <a:buChar char="o"/>
            </a:pPr>
            <a:r>
              <a:rPr lang="en-GB" dirty="0"/>
              <a:t>the measure is </a:t>
            </a:r>
            <a:r>
              <a:rPr lang="en-GB" b="1" dirty="0"/>
              <a:t>distortive of competition</a:t>
            </a:r>
            <a:r>
              <a:rPr lang="en-GB" dirty="0"/>
              <a:t>;</a:t>
            </a:r>
          </a:p>
          <a:p>
            <a:pPr fontAlgn="base">
              <a:buFont typeface="Courier New" panose="02070309020205020404" pitchFamily="49" charset="0"/>
              <a:buChar char="o"/>
            </a:pPr>
            <a:r>
              <a:rPr lang="en-GB" dirty="0"/>
              <a:t>It potentially </a:t>
            </a:r>
            <a:r>
              <a:rPr lang="en-GB" b="1" dirty="0"/>
              <a:t>affects trade </a:t>
            </a:r>
            <a:r>
              <a:rPr lang="en-GB" dirty="0"/>
              <a:t>between Member States. </a:t>
            </a:r>
          </a:p>
          <a:p>
            <a:pPr fontAlgn="base">
              <a:buFont typeface="Wingdings" pitchFamily="2" charset="2"/>
              <a:buChar char="Ø"/>
            </a:pPr>
            <a:r>
              <a:rPr lang="en-GB" dirty="0"/>
              <a:t>Non-EU entities investing in the EU (either through mergers or public bids) are subject to scrutiny where they benefit from </a:t>
            </a:r>
            <a:r>
              <a:rPr lang="en-GB" b="1" dirty="0"/>
              <a:t>Foreign Subsidies </a:t>
            </a:r>
            <a:r>
              <a:rPr lang="en-GB" dirty="0"/>
              <a:t>or subject to </a:t>
            </a:r>
            <a:r>
              <a:rPr lang="en-GB" b="1" dirty="0"/>
              <a:t>Foreign Direct Investment</a:t>
            </a:r>
            <a:r>
              <a:rPr lang="en-GB" dirty="0"/>
              <a:t> rules where they seek to invest in strategic industries. </a:t>
            </a:r>
          </a:p>
        </p:txBody>
      </p:sp>
    </p:spTree>
    <p:extLst>
      <p:ext uri="{BB962C8B-B14F-4D97-AF65-F5344CB8AC3E}">
        <p14:creationId xmlns:p14="http://schemas.microsoft.com/office/powerpoint/2010/main" val="30465800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2785AA227388645B335A12101CE7C80" ma:contentTypeVersion="11" ma:contentTypeDescription="Create a new document." ma:contentTypeScope="" ma:versionID="cc417f6275c1f2b8a12d9c5c3299b040">
  <xsd:schema xmlns:xsd="http://www.w3.org/2001/XMLSchema" xmlns:xs="http://www.w3.org/2001/XMLSchema" xmlns:p="http://schemas.microsoft.com/office/2006/metadata/properties" xmlns:ns3="c178fb82-13d2-4415-97a6-1f4ef0b1135f" targetNamespace="http://schemas.microsoft.com/office/2006/metadata/properties" ma:root="true" ma:fieldsID="032a01521f156160f8322bb8a66cd693" ns3:_="">
    <xsd:import namespace="c178fb82-13d2-4415-97a6-1f4ef0b1135f"/>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GenerationTime" minOccurs="0"/>
                <xsd:element ref="ns3:MediaServiceEventHashCode" minOccurs="0"/>
                <xsd:element ref="ns3:MediaLengthInSeconds" minOccurs="0"/>
                <xsd:element ref="ns3:MediaServiceOCR"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178fb82-13d2-4415-97a6-1f4ef0b1135f"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OCR" ma:index="17" nillable="true" ma:displayName="Extracted Text" ma:internalName="MediaServiceOCR" ma:readOnly="true">
      <xsd:simpleType>
        <xsd:restriction base="dms:Note">
          <xsd:maxLength value="255"/>
        </xsd:restriction>
      </xsd:simpleType>
    </xsd:element>
    <xsd:element name="_activity" ma:index="18"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c178fb82-13d2-4415-97a6-1f4ef0b1135f" xsi:nil="true"/>
  </documentManagement>
</p:properties>
</file>

<file path=customXml/itemProps1.xml><?xml version="1.0" encoding="utf-8"?>
<ds:datastoreItem xmlns:ds="http://schemas.openxmlformats.org/officeDocument/2006/customXml" ds:itemID="{A0BC84E0-BBF3-44B5-AF81-308774EA6FA3}">
  <ds:schemaRefs>
    <ds:schemaRef ds:uri="http://schemas.microsoft.com/sharepoint/v3/contenttype/forms"/>
  </ds:schemaRefs>
</ds:datastoreItem>
</file>

<file path=customXml/itemProps2.xml><?xml version="1.0" encoding="utf-8"?>
<ds:datastoreItem xmlns:ds="http://schemas.openxmlformats.org/officeDocument/2006/customXml" ds:itemID="{B42802A4-BF90-4BD7-9CE4-DAA1D92973F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178fb82-13d2-4415-97a6-1f4ef0b1135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0DD2157-EA13-4FE6-8E31-D59719775933}">
  <ds:schemaRefs>
    <ds:schemaRef ds:uri="http://purl.org/dc/terms/"/>
    <ds:schemaRef ds:uri="http://purl.org/dc/dcmitype/"/>
    <ds:schemaRef ds:uri="http://schemas.openxmlformats.org/package/2006/metadata/core-properties"/>
    <ds:schemaRef ds:uri="http://schemas.microsoft.com/office/2006/documentManagement/types"/>
    <ds:schemaRef ds:uri="http://www.w3.org/XML/1998/namespace"/>
    <ds:schemaRef ds:uri="http://purl.org/dc/elements/1.1/"/>
    <ds:schemaRef ds:uri="http://schemas.microsoft.com/office/infopath/2007/PartnerControls"/>
    <ds:schemaRef ds:uri="c178fb82-13d2-4415-97a6-1f4ef0b1135f"/>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2440</TotalTime>
  <Words>4013</Words>
  <Application>Microsoft Office PowerPoint</Application>
  <PresentationFormat>Widescreen</PresentationFormat>
  <Paragraphs>351</Paragraphs>
  <Slides>47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47</vt:i4>
      </vt:variant>
    </vt:vector>
  </HeadingPairs>
  <TitlesOfParts>
    <vt:vector size="53" baseType="lpstr">
      <vt:lpstr>Arial</vt:lpstr>
      <vt:lpstr>Calibri</vt:lpstr>
      <vt:lpstr>Calibri Light</vt:lpstr>
      <vt:lpstr>Courier New</vt:lpstr>
      <vt:lpstr>Wingdings</vt:lpstr>
      <vt:lpstr>Office Theme</vt:lpstr>
      <vt:lpstr>Session 3</vt:lpstr>
      <vt:lpstr>PowerPoint Presentation</vt:lpstr>
      <vt:lpstr>I. COMPETITION POLICY OVERVIEW (i)</vt:lpstr>
      <vt:lpstr>I. COMPETITION POLICY OVERVIEW (ii)</vt:lpstr>
      <vt:lpstr>I. COMPETITION POLICY OVERVIEW (iii)</vt:lpstr>
      <vt:lpstr>I. COMPETITION POLICY OVERVIEW (iv)</vt:lpstr>
      <vt:lpstr>I. COMPETITION POLICY OVERVIEW (v)</vt:lpstr>
      <vt:lpstr>I. COMPETITION POLICY OVERVIEW (vi)</vt:lpstr>
      <vt:lpstr>II. MULTILATERAL PRACTICES</vt:lpstr>
      <vt:lpstr>1. CARTEL PROCEDURES (i)</vt:lpstr>
      <vt:lpstr>1. CARTEL PROCEDURES (ii)</vt:lpstr>
      <vt:lpstr>1. CARTEL PROCEDURES (iii)</vt:lpstr>
      <vt:lpstr>1. CARTEL PROCEDURES (iv)</vt:lpstr>
      <vt:lpstr>1. CARTEL PROCEDURES (v)</vt:lpstr>
      <vt:lpstr>2. COOPERATION AGREEMENTS (i)</vt:lpstr>
      <vt:lpstr>2. COOPERATION AGREEMENTS (ii)</vt:lpstr>
      <vt:lpstr>2. COOPERATION AGREEMENTS (iii)</vt:lpstr>
      <vt:lpstr>2. COOPERATION AGREEMENTS (iii)</vt:lpstr>
      <vt:lpstr>2. COOPERATION AGREEMENTS (iv)</vt:lpstr>
      <vt:lpstr>2. COOPERATION AGREEMENTS (v)</vt:lpstr>
      <vt:lpstr>3. VERTICAL RESTRAINTS </vt:lpstr>
      <vt:lpstr>III. UNILATERAL PRACTICES</vt:lpstr>
      <vt:lpstr>III. UNILATERAL PRACTICES (i)</vt:lpstr>
      <vt:lpstr>III. UNILATERAL PRACTICES (ii) </vt:lpstr>
      <vt:lpstr>III. UNILATERAL PRACTICES (iii) </vt:lpstr>
      <vt:lpstr>III. UNILATERAL PRACTICES (iv) </vt:lpstr>
      <vt:lpstr>III. UNILATERAL PRACTICES (v) </vt:lpstr>
      <vt:lpstr>III. UNILATERAL PRACTICES (vi) </vt:lpstr>
      <vt:lpstr>III. UNILATERAL PRACTICES (vii) </vt:lpstr>
      <vt:lpstr>III. UNILATERAL PRACTICES (viii)</vt:lpstr>
      <vt:lpstr>III. UNILATERAL PRACTICES (ix)</vt:lpstr>
      <vt:lpstr>III. UNILATERAL PRACTICES (x)</vt:lpstr>
      <vt:lpstr>III. UNILATERAL PRACTICES (xi)</vt:lpstr>
      <vt:lpstr>III. UNILATERAL PRACTICES (xii)</vt:lpstr>
      <vt:lpstr>III. UNILATERAL PRACTICES (xiii) </vt:lpstr>
      <vt:lpstr>III. UNILATERAL PRACTICES (xiv)</vt:lpstr>
      <vt:lpstr>III. UNILATERAL PRACTICES (xv) </vt:lpstr>
      <vt:lpstr>III. UNILATERAL PRACTICES (xvi)</vt:lpstr>
      <vt:lpstr>IV. GOVERNANCE  &amp; PROCEDURE (i)</vt:lpstr>
      <vt:lpstr>IV. GOVERNANCE &amp; PROCEDURE (ii)</vt:lpstr>
      <vt:lpstr>IV. GOVERNANCE &amp; PROCEDURE (iii) </vt:lpstr>
      <vt:lpstr>IV. GOVERNANCE &amp; PROCEDURE (iv)</vt:lpstr>
      <vt:lpstr>IV. GOVERNANCE &amp; PROCEDURE (v)</vt:lpstr>
      <vt:lpstr>IV. GOVERNANCE &amp; PROCEDURE (vi)</vt:lpstr>
      <vt:lpstr>IV. GOVERNANCE &amp; PROCEDURE (vii)</vt:lpstr>
      <vt:lpstr>V. STATE ENTITIES (i)</vt:lpstr>
      <vt:lpstr>V. STATE ENTITIES (ii)</vt:lpstr>
    </vt:vector>
  </TitlesOfParts>
  <Company>HP Inc.</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3</dc:title>
  <dc:creator>David Bailey</dc:creator>
  <cp:lastModifiedBy>Kofi Datsa</cp:lastModifiedBy>
  <cp:revision>13</cp:revision>
  <dcterms:created xsi:type="dcterms:W3CDTF">2026-03-12T20:53:29Z</dcterms:created>
  <dcterms:modified xsi:type="dcterms:W3CDTF">2026-03-27T21:57:11Z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0x01010032785AA227388645B335A12101CE7C80</vt:lpwstr>
  </property>
</Properties>
</file>