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716"/>
  </p:normalViewPr>
  <p:slideViewPr>
    <p:cSldViewPr snapToGrid="0">
      <p:cViewPr varScale="1">
        <p:scale>
          <a:sx n="103" d="100"/>
          <a:sy n="103" d="100"/>
        </p:scale>
        <p:origin x="7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7803-F84B-D5F5-B2A3-AC9B5C2BA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7ACA7-4398-CD08-D2B1-32260BB8C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606BF-4BEA-71C6-6A8F-FF7601B3B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482B-A606-F599-D478-9E95C41D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9B9E-20E2-577F-A64D-58113DFE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0207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585B4-7399-FD8B-5EFE-A071D10A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2B010-EFBB-DAD1-E10C-9F3AE9978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FFDD2-4A43-2240-CAB0-C428D3B24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FC5C0-1358-155C-5D34-EE02FF7FA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B759A-5058-0873-2E03-EF742588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864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125B-CB32-791E-EE75-400296C93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F0391-CE49-1652-AE28-DAF2FB3DF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E2B88-FD8C-12D9-1CDA-EC08759A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D64EA-3B12-3BFA-ACBE-117135E9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50A41-DB6F-2A6E-939B-FA66FFD4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235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7E29-F914-4F12-EF52-7E32D327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A943E-0DF1-A54F-0D73-A33678C56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8E64B-1EB7-FD5C-1517-B4E87DFBD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76CF1-3456-0649-C881-3BC7FFEE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07A85-07DB-2231-8351-65E689E62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F401-FE17-0323-0276-3A648F32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29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83D4-0D6C-3295-AE75-7552C3664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C9F12-74A8-1674-CE75-02E770A87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EE2F7-7172-FE2E-751A-235A995E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95621-AB03-7DC8-43AA-9FED710F3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B2B42-8D69-5C3D-C881-1B9CFB3B3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7DD495-AFDB-4AD3-1DA9-FF65812AE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AEF93-FB48-59DC-9F26-2D237868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F5A38-C4D0-8927-D558-6939917B0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3007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2BB16-5196-E988-2312-221AB6A8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EA365-3071-1E59-0981-C96088AA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B1E13-D258-DF7B-5A9B-9CAD8D45C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17853-45A3-360C-82A1-9A7E6F10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5111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4DDE5E-C6FC-A5D4-137E-DCBCEB3E1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73251-7288-705B-3799-E7A2D1A6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B5494-353C-99E4-C497-9B2522E5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8045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7888-91E3-67E1-8EF9-84D267AB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E59E1-8FFF-D7B0-2612-2D4EA9947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5891C-7441-FB7B-6261-D0ECFD93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91D45-094A-4DC2-85D5-DCB0E03F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1C122-39D0-A9F1-0E87-E7BB80F5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10AF8-3A84-C463-9B7A-E37EBE3A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19984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31EC-050F-6E70-102D-4C7D2C6CC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9EB0EB-CC1A-B189-4445-08AFA664C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42100-6BC7-88B8-65DA-30C482249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9BB38-BC36-475A-155E-2989F2DD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70928-76F9-4CBE-F94D-04B8EEFFE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9E705-FC0B-6BE9-5668-52C8C67F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5289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1A5E-ABA2-4147-5D20-3E7506CF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355F8-3B62-59A8-2025-DE14B19F9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A8C1-FB02-3316-EFDD-B80B74CE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B89B-F5C2-0C6A-2859-35A1F847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9044B-5E6F-29D1-C245-25655BE6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523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E03E3B-0E3D-186C-0682-EB929424B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AE90D-7E7A-4B55-4C88-A67B1F73D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6CE36-8A73-B524-B528-CC2B67FD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D5E9-C09D-4C49-6881-2D80E821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D6F07-59DA-FE04-5706-5284F24B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064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CA0B3-4221-B04B-E144-227007645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5424B-42BB-1A0C-110F-3B4830ACD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09F8-529F-C568-F907-C8F0496B8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0F0AB-AFE8-684A-B82A-FDF5B2AFD215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62CB3-B504-F647-14F8-14A64FE7A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F6DA4-758B-31D3-897B-4984441F4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AD1C7-14F4-E547-A377-F6AB5AE0528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623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4862-E02F-0956-C10B-1EF842D42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Session 2: Background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7EDFA-8F20-CC2D-B793-17586E5F27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Prof. Peter Alexiadis &amp; Prof. David Bailey K.C.</a:t>
            </a:r>
          </a:p>
          <a:p>
            <a:endParaRPr lang="en-BE" dirty="0"/>
          </a:p>
        </p:txBody>
      </p:sp>
      <p:pic>
        <p:nvPicPr>
          <p:cNvPr id="5" name="Picture 4" descr="A blue and white logo with white stars and a book&#10;&#10;AI-generated content may be incorrect.">
            <a:extLst>
              <a:ext uri="{FF2B5EF4-FFF2-40B4-BE49-F238E27FC236}">
                <a16:creationId xmlns:a16="http://schemas.microsoft.com/office/drawing/2014/main" id="{B4297D01-FA8E-16B0-E1B5-A82708C04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74" y="298493"/>
            <a:ext cx="4534822" cy="160953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BE092CA3-32C6-BEDA-9A18-D2E7369E9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112" y="266503"/>
            <a:ext cx="2377775" cy="133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76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D586-38D0-2545-6C21-FA3458D1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 Geopolitical Context (i)</a:t>
            </a:r>
            <a:br>
              <a:rPr lang="en-BE" dirty="0"/>
            </a:br>
            <a:endParaRPr lang="en-B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564CD3-810C-D84D-7BF2-948A2D44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37" y="1522284"/>
            <a:ext cx="10909661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Greater skepticism around the world  about the benefits of globalisation and the emphasis on supply chain resilience in the light of </a:t>
            </a:r>
            <a:r>
              <a:rPr lang="en-GB" altLang="en-BE" sz="1600" dirty="0">
                <a:solidFill>
                  <a:srgbClr val="000000"/>
                </a:solidFill>
                <a:latin typeface="Helvetica" pitchFamily="2" charset="0"/>
              </a:rPr>
              <a:t>h</a:t>
            </a:r>
            <a:r>
              <a:rPr kumimoji="0" lang="en-GB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igher levels of protectionism</a:t>
            </a:r>
            <a:r>
              <a:rPr lang="en-GB" altLang="en-BE" sz="1600" dirty="0">
                <a:solidFill>
                  <a:srgbClr val="000000"/>
                </a:solidFill>
                <a:latin typeface="Helvetica" pitchFamily="2" charset="0"/>
              </a:rPr>
              <a:t>, which has an impact on: (1) market dynamics; (2) the willingness to cooperate internationally; and (3) respect for the rule of law more generally.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GB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GB" altLang="en-BE" sz="1600" dirty="0">
                <a:solidFill>
                  <a:srgbClr val="000000"/>
                </a:solidFill>
                <a:latin typeface="Helvetica" pitchFamily="2" charset="0"/>
              </a:rPr>
              <a:t>Renewed emphasis on pursuit of industrial policy goals and the protection of politically important sectors (</a:t>
            </a:r>
            <a:r>
              <a:rPr lang="en-GB" altLang="en-BE" sz="1600" i="1" dirty="0">
                <a:solidFill>
                  <a:srgbClr val="000000"/>
                </a:solidFill>
                <a:latin typeface="Helvetica" pitchFamily="2" charset="0"/>
              </a:rPr>
              <a:t>e.g.</a:t>
            </a:r>
            <a:r>
              <a:rPr lang="en-GB" altLang="en-BE" sz="1600" dirty="0">
                <a:solidFill>
                  <a:srgbClr val="000000"/>
                </a:solidFill>
                <a:latin typeface="Helvetica" pitchFamily="2" charset="0"/>
              </a:rPr>
              <a:t>, defence, energy and agriculture) at the expense of “pure” competition law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kumimoji="0" lang="en-GB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Exploration of bro</a:t>
            </a:r>
            <a:r>
              <a:rPr lang="en-GB" altLang="en-BE" sz="1600" dirty="0">
                <a:solidFill>
                  <a:srgbClr val="000000"/>
                </a:solidFill>
                <a:latin typeface="Helvetica" pitchFamily="2" charset="0"/>
              </a:rPr>
              <a:t>a</a:t>
            </a:r>
            <a:r>
              <a:rPr kumimoji="0" lang="en-GB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der notions of “consumer welfare” beyond short term emphasis on price (</a:t>
            </a:r>
            <a:r>
              <a:rPr kumimoji="0" lang="en-GB" altLang="en-BE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e.g.</a:t>
            </a:r>
            <a:r>
              <a:rPr kumimoji="0" lang="en-GB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, environmental goals, commitment to investment and growth)</a:t>
            </a: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Philosophical differences between the US and the EU regarding the benefits of regulation vs competition policy in terms of the impact on innovation, and the greater risk of making “</a:t>
            </a:r>
            <a:r>
              <a:rPr kumimoji="0" lang="en-BE" altLang="en-BE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Type 1” </a:t>
            </a: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or “Type 2”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Different emphases have been placed on the resolution of conflicts between opposing regimes such as regulation vs. competition and intellectual property vs. competition policies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2093C4-A0A2-6699-8351-D919EEEDD67A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5898967" y="12147438"/>
            <a:ext cx="1494610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BE" altLang="en-B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pursuit of industrial policy goals </a:t>
            </a:r>
            <a:r>
              <a:rPr kumimoji="0" lang="en-BE" altLang="en-BE" sz="1000" b="0" i="0" u="none" strike="noStrike" cap="none" normalizeH="0" baseline="0" dirty="0">
                <a:ln>
                  <a:noFill/>
                </a:ln>
                <a:solidFill>
                  <a:srgbClr val="C82613"/>
                </a:solidFill>
                <a:effectLst/>
                <a:latin typeface="Helvetica" pitchFamily="2" charset="0"/>
              </a:rPr>
              <a:t>and protection of sesitive or politically important sectors (eg, agriculture)</a:t>
            </a:r>
            <a:endParaRPr kumimoji="0" lang="en-BE" altLang="en-BE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BE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785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C6646-4219-F784-034E-65A450CD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0D7A-6D52-77E7-D1C2-C04CC3D6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 Geopolitical Context (ii)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EC3EC7-00EC-502E-B9C3-9537F07BA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37" y="1799284"/>
            <a:ext cx="10909661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Concerns about profiteering in certain sectors (</a:t>
            </a:r>
            <a:r>
              <a:rPr lang="en-BE" altLang="en-BE" sz="1600" i="1" dirty="0">
                <a:solidFill>
                  <a:srgbClr val="000000"/>
                </a:solidFill>
                <a:latin typeface="Helvetica" pitchFamily="2" charset="0"/>
              </a:rPr>
              <a:t>e.g.</a:t>
            </a: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, pharmaceuticals 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Blurring of lines between antitrust and regulation, antitrust and consumer protection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Rise of the concept of “fairness” in dealing with digital platforms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Challenges for merger regulators in formulating effective remedies 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Unprecedented c</a:t>
            </a: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hallenges to the independence of regulators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Approaches </a:t>
            </a:r>
            <a:r>
              <a:rPr kumimoji="0" lang="en-BE" altLang="en-BE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" pitchFamily="2" charset="0"/>
              </a:rPr>
              <a:t> towards State-owned entities, including challenges arising from foreign subsidies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BE" altLang="en-BE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BE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43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96DF9-7E01-C873-99DB-849248841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BEE2B-3995-FBEF-D77C-03A68C4CF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 Antitrust S</a:t>
            </a:r>
            <a:r>
              <a:rPr lang="en-GB" dirty="0"/>
              <a:t>c</a:t>
            </a:r>
            <a:r>
              <a:rPr lang="en-BE" dirty="0"/>
              <a:t>hools of Thought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661A04-C2C0-50D9-4756-86E7A4BFB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37" y="1799284"/>
            <a:ext cx="10909661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From Adam Smith to Keynesian Economics to Today’s Concerns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Chicago School Economics and Schumpeterian Theories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Brandeisian Antitrust Thinking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The Ordoliberal Tradition in Europe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The Rise of Behavioural Economics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Where We Stand Today: Mixed Messages </a:t>
            </a: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BE" altLang="en-BE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BE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67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5C1C-43F4-95C1-1226-F5B72B40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19D4-463F-177B-8E24-EA53220C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 Ghanaian Economic Context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77D050-78D7-CCC9-DD28-70D2BCB9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37" y="1676174"/>
            <a:ext cx="1090966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Ghana is well placed to introduce an advanced competition law regime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The key economic indicators are positive and the economy is sufficiently balanced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The achievement of scale and the availability of essential natural resources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BE" altLang="en-BE" sz="1600" dirty="0">
              <a:solidFill>
                <a:srgbClr val="000000"/>
              </a:solidFill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Heavy emphasis of agricultural and services sectors for employment 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Greatest risks arise from potential for monopoly or complex oligopoly creation in raw materials and infrastructure-based markets; potential importance of exploitative abuses in fragmented services markets; risks of cartelisation in food production, food processing and commodities industries 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lang="en-BE" altLang="en-BE" sz="1600" dirty="0">
                <a:solidFill>
                  <a:srgbClr val="000000"/>
                </a:solidFill>
                <a:latin typeface="Helvetica" pitchFamily="2" charset="0"/>
              </a:rPr>
              <a:t>Challenges on the State to ensure that procurement processes </a:t>
            </a:r>
            <a:r>
              <a:rPr lang="en-BE" altLang="en-BE" sz="1600">
                <a:solidFill>
                  <a:srgbClr val="000000"/>
                </a:solidFill>
                <a:latin typeface="Helvetica" pitchFamily="2" charset="0"/>
              </a:rPr>
              <a:t>work efficiently</a:t>
            </a:r>
            <a:endParaRPr kumimoji="0" lang="en-BE" altLang="en-BE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BE" altLang="en-BE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BE" altLang="en-B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875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448</Words>
  <Application>Microsoft Macintosh PowerPoint</Application>
  <PresentationFormat>Widescreen</PresentationFormat>
  <Paragraphs>58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Helvetica</vt:lpstr>
      <vt:lpstr>Wingdings</vt:lpstr>
      <vt:lpstr>Office Theme</vt:lpstr>
      <vt:lpstr>Session 2: Background Issues</vt:lpstr>
      <vt:lpstr> Geopolitical Context (i) </vt:lpstr>
      <vt:lpstr> Geopolitical Context (ii) </vt:lpstr>
      <vt:lpstr> Antitrust Schools of Thought  </vt:lpstr>
      <vt:lpstr> Ghanaian Economic Context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 Bouffler</dc:creator>
  <cp:lastModifiedBy>Susan Bouffler</cp:lastModifiedBy>
  <cp:revision>3</cp:revision>
  <dcterms:created xsi:type="dcterms:W3CDTF">2026-03-19T11:59:21Z</dcterms:created>
  <dcterms:modified xsi:type="dcterms:W3CDTF">2026-03-25T00:05:14Z</dcterms:modified>
</cp:coreProperties>
</file>